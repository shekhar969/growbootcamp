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A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754880" cy="4754880"/>
          </a:xfrm>
          <a:prstGeom prst="ellipse">
            <a:avLst/>
          </a:prstGeom>
          <a:solidFill>
            <a:srgbClr val="028090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754880"/>
            <a:ext cx="4023360" cy="4023360"/>
          </a:xfrm>
          <a:prstGeom prst="ellipse">
            <a:avLst/>
          </a:prstGeom>
          <a:solidFill>
            <a:srgbClr val="00A896">
              <a:alpha val="40000"/>
            </a:srgbClr>
          </a:solidFill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INTERNSHIP  ·  WEEK 1 PROGRESS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9875520" cy="1920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Test: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Foundations, SDLC &amp; Requirements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recap of everything covered so far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2453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5989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62453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 – Sep 3, 2026  ·  Day 1–3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SEP 1,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Fundamentals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exists, how it differs from debugging &amp; QA, and the 7 ISTQB principles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29968"/>
            <a:ext cx="310896" cy="31089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7" name="Text 5"/>
          <p:cNvSpPr txBox="1"/>
          <p:nvPr/>
        </p:nvSpPr>
        <p:spPr>
          <a:xfrm>
            <a:off x="841248" y="20299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75104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vs. Debugging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04288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asks “is there a problem?” Debugging asks “why, and how do we fix it?”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447288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41248" y="3648456"/>
            <a:ext cx="310896" cy="31089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2" name="Text 10"/>
          <p:cNvSpPr txBox="1"/>
          <p:nvPr/>
        </p:nvSpPr>
        <p:spPr>
          <a:xfrm>
            <a:off x="841248" y="3648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59359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vs. QA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922776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finds existing problems. QA improves the process so fewer problems occur.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5065776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" y="5266944"/>
            <a:ext cx="310896" cy="31089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17" name="Text 15"/>
          <p:cNvSpPr txBox="1"/>
          <p:nvPr/>
        </p:nvSpPr>
        <p:spPr>
          <a:xfrm>
            <a:off x="841248" y="526694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52120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→ Defect → Failure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5541264"/>
            <a:ext cx="29260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error creates a defect; a defect causes a failure; the root cause is the reason behind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828800"/>
            <a:ext cx="6858000" cy="4343400"/>
          </a:xfrm>
          <a:prstGeom prst="roundRect">
            <a:avLst>
              <a:gd name="adj" fmla="val 1684"/>
            </a:avLst>
          </a:prstGeom>
          <a:solidFill>
            <a:srgbClr val="0B3A3F"/>
          </a:solidFill>
        </p:spPr>
      </p:sp>
      <p:sp>
        <p:nvSpPr>
          <p:cNvPr id="21" name="Text 19"/>
          <p:cNvSpPr txBox="1"/>
          <p:nvPr/>
        </p:nvSpPr>
        <p:spPr>
          <a:xfrm>
            <a:off x="5029200" y="2084832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 ISTQB Testing Principles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0" y="2606040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3" name="Text 21"/>
          <p:cNvSpPr txBox="1"/>
          <p:nvPr/>
        </p:nvSpPr>
        <p:spPr>
          <a:xfrm>
            <a:off x="5029200" y="260604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58968" y="252374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shows the presence of defects, not their absence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0" y="3090672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6" name="Text 24"/>
          <p:cNvSpPr txBox="1"/>
          <p:nvPr/>
        </p:nvSpPr>
        <p:spPr>
          <a:xfrm>
            <a:off x="5029200" y="309067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58968" y="3008376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testing (testing everything) is impossible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0" y="3575304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29" name="Text 27"/>
          <p:cNvSpPr txBox="1"/>
          <p:nvPr/>
        </p:nvSpPr>
        <p:spPr>
          <a:xfrm>
            <a:off x="5029200" y="3575304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58968" y="3493008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testing saves more time and money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029200" y="4059936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2" name="Text 30"/>
          <p:cNvSpPr txBox="1"/>
          <p:nvPr/>
        </p:nvSpPr>
        <p:spPr>
          <a:xfrm>
            <a:off x="5029200" y="4059936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58968" y="397764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tend to cluster together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0" y="4544568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5" name="Text 33"/>
          <p:cNvSpPr txBox="1"/>
          <p:nvPr/>
        </p:nvSpPr>
        <p:spPr>
          <a:xfrm>
            <a:off x="5029200" y="45445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58968" y="4462272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Pesticide paradox — repeated tests lose effectiveness over time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029200" y="5029200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38" name="Text 36"/>
          <p:cNvSpPr txBox="1"/>
          <p:nvPr/>
        </p:nvSpPr>
        <p:spPr>
          <a:xfrm>
            <a:off x="5029200" y="5029200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458968" y="494690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is context-dependent — no single universal method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029200" y="5513832"/>
            <a:ext cx="256032" cy="256032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41" name="Text 39"/>
          <p:cNvSpPr txBox="1"/>
          <p:nvPr/>
        </p:nvSpPr>
        <p:spPr>
          <a:xfrm>
            <a:off x="5029200" y="5513832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58968" y="5431536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bugs is a fallacy — doesn't guarantee requirements are met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14757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SEP 2,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SDLC Models &amp; Test Levels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Waterfall, V-Model, Agile/Scrum — and how testing fits at every stage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</p:sp>
      <p:sp>
        <p:nvSpPr>
          <p:cNvPr id="7" name="Text 5"/>
          <p:cNvSpPr txBox="1"/>
          <p:nvPr/>
        </p:nvSpPr>
        <p:spPr>
          <a:xfrm>
            <a:off x="841248" y="2011680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377440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74320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→ Design → Development → Testing → Deployment. Best when requirements are stable.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88536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9704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</p:spPr>
      </p:sp>
      <p:sp>
        <p:nvSpPr>
          <p:cNvPr id="12" name="Text 10"/>
          <p:cNvSpPr txBox="1"/>
          <p:nvPr/>
        </p:nvSpPr>
        <p:spPr>
          <a:xfrm>
            <a:off x="4489704" y="2011680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TEST-ALIGNED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2377440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489704" y="274320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development phase has a matching test phase, planned together — not just at the end.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36992" y="18288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0116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</p:spPr>
      </p:sp>
      <p:sp>
        <p:nvSpPr>
          <p:cNvPr id="17" name="Text 15"/>
          <p:cNvSpPr txBox="1"/>
          <p:nvPr/>
        </p:nvSpPr>
        <p:spPr>
          <a:xfrm>
            <a:off x="8138160" y="2011680"/>
            <a:ext cx="12344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377440"/>
            <a:ext cx="3026664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Scrum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743200"/>
            <a:ext cx="302666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short Sprints (1–4 weeks); dev and QA collaborate and test continuously.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6309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14400" y="4050792"/>
            <a:ext cx="57607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of Testing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572000"/>
            <a:ext cx="1268730" cy="1371600"/>
          </a:xfrm>
          <a:prstGeom prst="roundRect">
            <a:avLst>
              <a:gd name="adj" fmla="val 4324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4128" y="4663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956048"/>
            <a:ext cx="108585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5285232"/>
            <a:ext cx="108585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2164842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11730" y="4572000"/>
            <a:ext cx="1268730" cy="1371600"/>
          </a:xfrm>
          <a:prstGeom prst="roundRect">
            <a:avLst>
              <a:gd name="adj" fmla="val 4324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521458" y="4663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503170" y="4956048"/>
            <a:ext cx="108585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503170" y="5285232"/>
            <a:ext cx="108585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together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3662172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909060" y="4572000"/>
            <a:ext cx="1268730" cy="1371600"/>
          </a:xfrm>
          <a:prstGeom prst="roundRect">
            <a:avLst>
              <a:gd name="adj" fmla="val 4324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018788" y="4663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000500" y="4956048"/>
            <a:ext cx="108585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000500" y="5285232"/>
            <a:ext cx="108585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159502" y="5074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06390" y="4572000"/>
            <a:ext cx="1268730" cy="1371600"/>
          </a:xfrm>
          <a:prstGeom prst="roundRect">
            <a:avLst>
              <a:gd name="adj" fmla="val 4324"/>
            </a:avLst>
          </a:prstGeom>
          <a:solidFill>
            <a:srgbClr val="F4FA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16118" y="466344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497830" y="4956048"/>
            <a:ext cx="108585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5497830" y="5285232"/>
            <a:ext cx="108585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business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178040" y="3886200"/>
            <a:ext cx="4389120" cy="2286000"/>
          </a:xfrm>
          <a:prstGeom prst="roundRect">
            <a:avLst>
              <a:gd name="adj" fmla="val 3200"/>
            </a:avLst>
          </a:prstGeom>
          <a:solidFill>
            <a:srgbClr val="0B3A3F"/>
          </a:solidFill>
        </p:spPr>
      </p:sp>
      <p:sp>
        <p:nvSpPr>
          <p:cNvPr id="42" name="Text 40"/>
          <p:cNvSpPr txBox="1"/>
          <p:nvPr/>
        </p:nvSpPr>
        <p:spPr>
          <a:xfrm>
            <a:off x="7434072" y="4050792"/>
            <a:ext cx="3877056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↔ Scenario Fit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434072" y="4507992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app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281160" y="4526280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</p:sp>
      <p:sp>
        <p:nvSpPr>
          <p:cNvPr id="45" name="Text 43"/>
          <p:cNvSpPr txBox="1"/>
          <p:nvPr/>
        </p:nvSpPr>
        <p:spPr>
          <a:xfrm>
            <a:off x="9281160" y="4526280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434072" y="503834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MVP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9281160" y="5056632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</p:sp>
      <p:sp>
        <p:nvSpPr>
          <p:cNvPr id="48" name="Text 46"/>
          <p:cNvSpPr txBox="1"/>
          <p:nvPr/>
        </p:nvSpPr>
        <p:spPr>
          <a:xfrm>
            <a:off x="9281160" y="5056632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434072" y="5568696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firmware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9281160" y="5586984"/>
            <a:ext cx="201168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</p:sp>
      <p:sp>
        <p:nvSpPr>
          <p:cNvPr id="51" name="Text 49"/>
          <p:cNvSpPr txBox="1"/>
          <p:nvPr/>
        </p:nvSpPr>
        <p:spPr>
          <a:xfrm>
            <a:off x="9281160" y="5586984"/>
            <a:ext cx="20116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/ V-Model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4757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·  SEP 3,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Analysis &amp; Business Logic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requirements like a business analyst, before a single test case is written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B2E3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4617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 of a Requirement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00400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business need or policy — e.g. students need 80% attendance to sit for an exam.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3913632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</p:spPr>
      </p:sp>
      <p:sp>
        <p:nvSpPr>
          <p:cNvPr id="11" name="Text 9"/>
          <p:cNvSpPr txBox="1"/>
          <p:nvPr/>
        </p:nvSpPr>
        <p:spPr>
          <a:xfrm>
            <a:off x="960120" y="39136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70832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system behavior — e.g. the system must ensure students below 80% are marked ineligible.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60120" y="5084064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C39A"/>
          </a:solidFill>
        </p:spPr>
      </p:sp>
      <p:sp>
        <p:nvSpPr>
          <p:cNvPr id="14" name="Text 12"/>
          <p:cNvSpPr txBox="1"/>
          <p:nvPr/>
        </p:nvSpPr>
        <p:spPr>
          <a:xfrm>
            <a:off x="960120" y="5084064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541264"/>
            <a:ext cx="4617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the same requirement from the user's own perspective, in simple, everyday terms.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1828800"/>
            <a:ext cx="5349240" cy="4343400"/>
          </a:xfrm>
          <a:prstGeom prst="roundRect">
            <a:avLst>
              <a:gd name="adj" fmla="val 1684"/>
            </a:avLst>
          </a:prstGeom>
          <a:solidFill>
            <a:srgbClr val="0B3A3F"/>
          </a:solidFill>
        </p:spPr>
      </p:sp>
      <p:sp>
        <p:nvSpPr>
          <p:cNvPr id="17" name="Text 15"/>
          <p:cNvSpPr txBox="1"/>
          <p:nvPr/>
        </p:nvSpPr>
        <p:spPr>
          <a:xfrm>
            <a:off x="6492240" y="2103120"/>
            <a:ext cx="4709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Review Techniques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487168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→ Formal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2971800"/>
            <a:ext cx="2194560" cy="402336"/>
          </a:xfrm>
          <a:prstGeom prst="roundRect">
            <a:avLst>
              <a:gd name="adj" fmla="val 15909"/>
            </a:avLst>
          </a:prstGeom>
          <a:solidFill>
            <a:srgbClr val="028090"/>
          </a:solidFill>
        </p:spPr>
      </p:sp>
      <p:sp>
        <p:nvSpPr>
          <p:cNvPr id="20" name="Text 18"/>
          <p:cNvSpPr txBox="1"/>
          <p:nvPr/>
        </p:nvSpPr>
        <p:spPr>
          <a:xfrm>
            <a:off x="6492240" y="2971800"/>
            <a:ext cx="205740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Informal Review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410712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casually checks the requirement — no formal process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92240" y="3758184"/>
            <a:ext cx="2834640" cy="402336"/>
          </a:xfrm>
          <a:prstGeom prst="roundRect">
            <a:avLst>
              <a:gd name="adj" fmla="val 15909"/>
            </a:avLst>
          </a:prstGeom>
          <a:solidFill>
            <a:srgbClr val="028090"/>
          </a:solidFill>
        </p:spPr>
      </p:sp>
      <p:sp>
        <p:nvSpPr>
          <p:cNvPr id="23" name="Text 21"/>
          <p:cNvSpPr txBox="1"/>
          <p:nvPr/>
        </p:nvSpPr>
        <p:spPr>
          <a:xfrm>
            <a:off x="6492240" y="3758184"/>
            <a:ext cx="269748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Walkthrough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197096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explains the work to the team and answers questions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92240" y="4544568"/>
            <a:ext cx="3474720" cy="402336"/>
          </a:xfrm>
          <a:prstGeom prst="roundRect">
            <a:avLst>
              <a:gd name="adj" fmla="val 15909"/>
            </a:avLst>
          </a:prstGeom>
          <a:solidFill>
            <a:srgbClr val="028090"/>
          </a:solidFill>
        </p:spPr>
      </p:sp>
      <p:sp>
        <p:nvSpPr>
          <p:cNvPr id="26" name="Text 24"/>
          <p:cNvSpPr txBox="1"/>
          <p:nvPr/>
        </p:nvSpPr>
        <p:spPr>
          <a:xfrm>
            <a:off x="6492240" y="4544568"/>
            <a:ext cx="333756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Technical Review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9834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experts examine correctness, architecture, and design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92240" y="5330952"/>
            <a:ext cx="4114800" cy="402336"/>
          </a:xfrm>
          <a:prstGeom prst="roundRect">
            <a:avLst>
              <a:gd name="adj" fmla="val 15909"/>
            </a:avLst>
          </a:prstGeom>
          <a:solidFill>
            <a:srgbClr val="02C39A"/>
          </a:solidFill>
        </p:spPr>
      </p:sp>
      <p:sp>
        <p:nvSpPr>
          <p:cNvPr id="29" name="Text 27"/>
          <p:cNvSpPr txBox="1"/>
          <p:nvPr/>
        </p:nvSpPr>
        <p:spPr>
          <a:xfrm>
            <a:off x="6492240" y="5330952"/>
            <a:ext cx="3977640" cy="402336"/>
          </a:xfrm>
          <a:prstGeom prst="rect">
            <a:avLst/>
          </a:prstGeom>
          <a:noFill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Inspection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769864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formal — defined roles, checklists, and formal defect logging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475720" y="649224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2536</Words>
  <Application>WPS Presentation</Application>
  <PresentationFormat>On-screen Show (16:9)</PresentationFormat>
  <Paragraphs>189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apple</cp:lastModifiedBy>
  <cp:revision>2</cp:revision>
  <dcterms:created xsi:type="dcterms:W3CDTF">2026-09-04T03:52:41Z</dcterms:created>
  <dcterms:modified xsi:type="dcterms:W3CDTF">2026-09-04T03:52:41Z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1EA376E3C1A0E64F89409A6AE32D4EA3_42</vt:lpwstr>
  </property>
  <property fmtid="{D5CDD505-2E9C-101B-9397-08002B2CF9AE}" pid="3" name="KSOProductBuildVer">
    <vt:lpwstr>1033-12.1.28492.28492</vt:lpwstr>
  </property>
</Properties>
</file>