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3A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1463040"/>
            <a:ext cx="4572000" cy="4572000"/>
          </a:xfrm>
          <a:prstGeom prst="ellipse">
            <a:avLst/>
          </a:prstGeom>
          <a:solidFill>
            <a:srgbClr val="028090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280160" y="4846320"/>
            <a:ext cx="3291840" cy="3291840"/>
          </a:xfrm>
          <a:prstGeom prst="ellipse">
            <a:avLst/>
          </a:prstGeom>
          <a:solidFill>
            <a:srgbClr val="00A896">
              <a:alpha val="40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22960" y="11887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QA INTERNSHIP  ·  WEEK 4 PROGRESS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1737360"/>
            <a:ext cx="96012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Databases, SQL &amp; Automation:</a:t>
            </a:r>
            <a:endParaRPr lang="en-US" sz="4000" dirty="0"/>
          </a:p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Testing Beyond the Screen</a:t>
            </a:r>
            <a:endParaRPr lang="en-US" sz="40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35661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i="1" dirty="0">
                <a:solidFill>
                  <a:srgbClr val="CFE8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simple recap of everything covered this week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51206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539496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Shekhar Singh Rawal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5120640" y="51206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Duration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5120640" y="53949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 22 – Sep 29, 2026  ·  Day 1–4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A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  ·  SEP 22, 2026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10972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B2E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Database Testing Fundamentals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28016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C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Checking that data is stored correctly, and that the rules protecting it actually hold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10698480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5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48640" y="1828800"/>
            <a:ext cx="2834640" cy="128016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9525">
            <a:solidFill>
              <a:srgbClr val="E4F3F1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31520" y="1993392"/>
            <a:ext cx="329184" cy="329184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731520" y="199339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1188720" y="201168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B2E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Atomicity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731520" y="2450592"/>
            <a:ext cx="2514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C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or nothing — no money deducted without being credited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566160" y="1828800"/>
            <a:ext cx="2834640" cy="128016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9525">
            <a:solidFill>
              <a:srgbClr val="E4F3F1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749040" y="1993392"/>
            <a:ext cx="329184" cy="329184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3749040" y="199339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4206240" y="201168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B2E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Consistency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3749040" y="2450592"/>
            <a:ext cx="2514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C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stays valid — a foreign key can’t point to a missing employee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48640" y="3246120"/>
            <a:ext cx="2834640" cy="128016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9525">
            <a:solidFill>
              <a:srgbClr val="E4F3F1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731520" y="3410712"/>
            <a:ext cx="329184" cy="329184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731520" y="341071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1188720" y="342900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B2E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Isolation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731520" y="3867912"/>
            <a:ext cx="2514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C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Concurrent transactions don’t interfere with each other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3566160" y="3246120"/>
            <a:ext cx="2834640" cy="128016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9525">
            <a:solidFill>
              <a:srgbClr val="E4F3F1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749040" y="3410712"/>
            <a:ext cx="329184" cy="329184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3749040" y="341071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4206240" y="342900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B2E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Durability</a:t>
            </a:r>
            <a:endParaRPr lang="en-US" sz="1500" dirty="0"/>
          </a:p>
        </p:txBody>
      </p:sp>
      <p:sp>
        <p:nvSpPr>
          <p:cNvPr id="25" name="Text 23"/>
          <p:cNvSpPr txBox="1"/>
          <p:nvPr/>
        </p:nvSpPr>
        <p:spPr>
          <a:xfrm>
            <a:off x="3749040" y="3867912"/>
            <a:ext cx="2514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C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Committed data survives a system restart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548640" y="4754880"/>
            <a:ext cx="5852160" cy="146304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9525">
            <a:solidFill>
              <a:srgbClr val="E4F3F1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731520" y="4937760"/>
            <a:ext cx="822960" cy="329184"/>
          </a:xfrm>
          <a:prstGeom prst="roundRect">
            <a:avLst>
              <a:gd name="adj" fmla="val 50000"/>
            </a:avLst>
          </a:prstGeom>
          <a:solidFill>
            <a:srgbClr val="028090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731520" y="4937760"/>
            <a:ext cx="822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DDL</a:t>
            </a:r>
            <a:endParaRPr lang="en-US" sz="1200" dirty="0"/>
          </a:p>
        </p:txBody>
      </p:sp>
      <p:sp>
        <p:nvSpPr>
          <p:cNvPr id="29" name="Text 27"/>
          <p:cNvSpPr txBox="1"/>
          <p:nvPr/>
        </p:nvSpPr>
        <p:spPr>
          <a:xfrm>
            <a:off x="1691640" y="4937760"/>
            <a:ext cx="4572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E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Defines structure: CREATE, ALTER, DROP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731520" y="5440680"/>
            <a:ext cx="822960" cy="329184"/>
          </a:xfrm>
          <a:prstGeom prst="roundRect">
            <a:avLst>
              <a:gd name="adj" fmla="val 50000"/>
            </a:avLst>
          </a:prstGeom>
          <a:solidFill>
            <a:srgbClr val="00A896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731520" y="5440680"/>
            <a:ext cx="822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DML</a:t>
            </a:r>
            <a:endParaRPr lang="en-US" sz="1200" dirty="0"/>
          </a:p>
        </p:txBody>
      </p:sp>
      <p:sp>
        <p:nvSpPr>
          <p:cNvPr id="32" name="Text 30"/>
          <p:cNvSpPr txBox="1"/>
          <p:nvPr/>
        </p:nvSpPr>
        <p:spPr>
          <a:xfrm>
            <a:off x="1691640" y="5440680"/>
            <a:ext cx="4572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E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 with data: INSERT, UPDATE, DELETE, SELECT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6675120" y="1828800"/>
            <a:ext cx="4965192" cy="4389120"/>
          </a:xfrm>
          <a:prstGeom prst="roundRect">
            <a:avLst>
              <a:gd name="adj" fmla="val 2083"/>
            </a:avLst>
          </a:prstGeom>
          <a:solidFill>
            <a:srgbClr val="0B3A3F"/>
          </a:solidFill>
          <a:ln/>
        </p:spPr>
      </p:sp>
      <p:sp>
        <p:nvSpPr>
          <p:cNvPr id="34" name="Text 32"/>
          <p:cNvSpPr txBox="1"/>
          <p:nvPr/>
        </p:nvSpPr>
        <p:spPr>
          <a:xfrm>
            <a:off x="6949440" y="205740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Constraints = Business Rules</a:t>
            </a:r>
            <a:endParaRPr lang="en-US" sz="1800" dirty="0"/>
          </a:p>
        </p:txBody>
      </p:sp>
      <p:sp>
        <p:nvSpPr>
          <p:cNvPr id="35" name="Shape 33"/>
          <p:cNvSpPr/>
          <p:nvPr/>
        </p:nvSpPr>
        <p:spPr>
          <a:xfrm>
            <a:off x="6949440" y="2560320"/>
            <a:ext cx="1737360" cy="329184"/>
          </a:xfrm>
          <a:prstGeom prst="roundRect">
            <a:avLst>
              <a:gd name="adj" fmla="val 50000"/>
            </a:avLst>
          </a:prstGeom>
          <a:solidFill>
            <a:srgbClr val="028090"/>
          </a:solidFill>
          <a:ln/>
        </p:spPr>
      </p:sp>
      <p:sp>
        <p:nvSpPr>
          <p:cNvPr id="36" name="Text 34"/>
          <p:cNvSpPr txBox="1"/>
          <p:nvPr/>
        </p:nvSpPr>
        <p:spPr>
          <a:xfrm>
            <a:off x="6949440" y="2560320"/>
            <a:ext cx="1737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KEY</a:t>
            </a:r>
            <a:endParaRPr lang="en-US" sz="1200" dirty="0"/>
          </a:p>
        </p:txBody>
      </p:sp>
      <p:sp>
        <p:nvSpPr>
          <p:cNvPr id="37" name="Text 35"/>
          <p:cNvSpPr txBox="1"/>
          <p:nvPr/>
        </p:nvSpPr>
        <p:spPr>
          <a:xfrm>
            <a:off x="8823960" y="251460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FE8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employee / department has a unique ID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6949440" y="3291840"/>
            <a:ext cx="1737360" cy="329184"/>
          </a:xfrm>
          <a:prstGeom prst="roundRect">
            <a:avLst>
              <a:gd name="adj" fmla="val 50000"/>
            </a:avLst>
          </a:prstGeom>
          <a:solidFill>
            <a:srgbClr val="00A896"/>
          </a:solidFill>
          <a:ln/>
        </p:spPr>
      </p:sp>
      <p:sp>
        <p:nvSpPr>
          <p:cNvPr id="39" name="Text 37"/>
          <p:cNvSpPr txBox="1"/>
          <p:nvPr/>
        </p:nvSpPr>
        <p:spPr>
          <a:xfrm>
            <a:off x="6949440" y="3291840"/>
            <a:ext cx="1737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NULL</a:t>
            </a:r>
            <a:endParaRPr lang="en-US" sz="1200" dirty="0"/>
          </a:p>
        </p:txBody>
      </p:sp>
      <p:sp>
        <p:nvSpPr>
          <p:cNvPr id="40" name="Text 38"/>
          <p:cNvSpPr txBox="1"/>
          <p:nvPr/>
        </p:nvSpPr>
        <p:spPr>
          <a:xfrm>
            <a:off x="8823960" y="324612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FE8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Names can never be empty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6949440" y="4023360"/>
            <a:ext cx="1737360" cy="329184"/>
          </a:xfrm>
          <a:prstGeom prst="roundRect">
            <a:avLst>
              <a:gd name="adj" fmla="val 50000"/>
            </a:avLst>
          </a:prstGeom>
          <a:solidFill>
            <a:srgbClr val="028090"/>
          </a:solidFill>
          <a:ln/>
        </p:spPr>
      </p:sp>
      <p:sp>
        <p:nvSpPr>
          <p:cNvPr id="42" name="Text 40"/>
          <p:cNvSpPr txBox="1"/>
          <p:nvPr/>
        </p:nvSpPr>
        <p:spPr>
          <a:xfrm>
            <a:off x="6949440" y="4023360"/>
            <a:ext cx="1737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FOREIGN KEY</a:t>
            </a:r>
            <a:endParaRPr lang="en-US" sz="1200" dirty="0"/>
          </a:p>
        </p:txBody>
      </p:sp>
      <p:sp>
        <p:nvSpPr>
          <p:cNvPr id="43" name="Text 41"/>
          <p:cNvSpPr txBox="1"/>
          <p:nvPr/>
        </p:nvSpPr>
        <p:spPr>
          <a:xfrm>
            <a:off x="8823960" y="397764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FE8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department can only reference an existing employee</a:t>
            </a:r>
            <a:endParaRPr lang="en-US" sz="1200" dirty="0"/>
          </a:p>
        </p:txBody>
      </p:sp>
      <p:sp>
        <p:nvSpPr>
          <p:cNvPr id="44" name="Shape 42"/>
          <p:cNvSpPr/>
          <p:nvPr/>
        </p:nvSpPr>
        <p:spPr>
          <a:xfrm>
            <a:off x="6949440" y="4754880"/>
            <a:ext cx="1737360" cy="329184"/>
          </a:xfrm>
          <a:prstGeom prst="roundRect">
            <a:avLst>
              <a:gd name="adj" fmla="val 50000"/>
            </a:avLst>
          </a:prstGeom>
          <a:solidFill>
            <a:srgbClr val="00A896"/>
          </a:solidFill>
          <a:ln/>
        </p:spPr>
      </p:sp>
      <p:sp>
        <p:nvSpPr>
          <p:cNvPr id="45" name="Text 43"/>
          <p:cNvSpPr txBox="1"/>
          <p:nvPr/>
        </p:nvSpPr>
        <p:spPr>
          <a:xfrm>
            <a:off x="6949440" y="4754880"/>
            <a:ext cx="1737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</a:t>
            </a:r>
            <a:endParaRPr lang="en-US" sz="1200" dirty="0"/>
          </a:p>
        </p:txBody>
      </p:sp>
      <p:sp>
        <p:nvSpPr>
          <p:cNvPr id="46" name="Text 44"/>
          <p:cNvSpPr txBox="1"/>
          <p:nvPr/>
        </p:nvSpPr>
        <p:spPr>
          <a:xfrm>
            <a:off x="8823960" y="470916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FE8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Stops duplicates, e.g. the same email twice</a:t>
            </a:r>
            <a:endParaRPr lang="en-US" sz="1200" dirty="0"/>
          </a:p>
        </p:txBody>
      </p:sp>
      <p:sp>
        <p:nvSpPr>
          <p:cNvPr id="47" name="Text 45"/>
          <p:cNvSpPr txBox="1"/>
          <p:nvPr/>
        </p:nvSpPr>
        <p:spPr>
          <a:xfrm>
            <a:off x="6949440" y="5577840"/>
            <a:ext cx="4480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Practical: related EMPLOYEE and DEPARTMENT tables built and verified with SELECT.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A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  ·  SEP 23, 2026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10972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B2E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SQL Fundamentals &amp; Data Validation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28016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C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queries to prove that stored data matches the expected business rules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10698480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5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48640" y="1828800"/>
            <a:ext cx="5760720" cy="4389120"/>
          </a:xfrm>
          <a:prstGeom prst="roundRect">
            <a:avLst>
              <a:gd name="adj" fmla="val 2083"/>
            </a:avLst>
          </a:prstGeom>
          <a:solidFill>
            <a:srgbClr val="FFFFFF"/>
          </a:solidFill>
          <a:ln w="9525">
            <a:solidFill>
              <a:srgbClr val="E4F3F1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777240" y="201168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B2E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Core Queries for QA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777240" y="2560320"/>
            <a:ext cx="1371600" cy="329184"/>
          </a:xfrm>
          <a:prstGeom prst="roundRect">
            <a:avLst>
              <a:gd name="adj" fmla="val 50000"/>
            </a:avLst>
          </a:prstGeom>
          <a:solidFill>
            <a:srgbClr val="028090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777240" y="2560320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2331720" y="2560320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E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 records are stored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777240" y="3081528"/>
            <a:ext cx="1371600" cy="329184"/>
          </a:xfrm>
          <a:prstGeom prst="roundRect">
            <a:avLst>
              <a:gd name="adj" fmla="val 50000"/>
            </a:avLst>
          </a:prstGeom>
          <a:solidFill>
            <a:srgbClr val="00A896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777240" y="3081528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2331720" y="3081528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E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one specific record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777240" y="3602736"/>
            <a:ext cx="1371600" cy="329184"/>
          </a:xfrm>
          <a:prstGeom prst="roundRect">
            <a:avLst>
              <a:gd name="adj" fmla="val 50000"/>
            </a:avLst>
          </a:prstGeom>
          <a:solidFill>
            <a:srgbClr val="028090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777240" y="3602736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BY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2331720" y="3602736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E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sorting rules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777240" y="4123944"/>
            <a:ext cx="1371600" cy="329184"/>
          </a:xfrm>
          <a:prstGeom prst="roundRect">
            <a:avLst>
              <a:gd name="adj" fmla="val 50000"/>
            </a:avLst>
          </a:prstGeom>
          <a:solidFill>
            <a:srgbClr val="00A896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777240" y="4123944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2331720" y="4123944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E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 paged results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777240" y="4645152"/>
            <a:ext cx="1371600" cy="329184"/>
          </a:xfrm>
          <a:prstGeom prst="roundRect">
            <a:avLst>
              <a:gd name="adj" fmla="val 50000"/>
            </a:avLst>
          </a:prstGeom>
          <a:solidFill>
            <a:srgbClr val="028090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777240" y="4645152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2331720" y="4645152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E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 new data is saved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777240" y="5166360"/>
            <a:ext cx="1371600" cy="329184"/>
          </a:xfrm>
          <a:prstGeom prst="roundRect">
            <a:avLst>
              <a:gd name="adj" fmla="val 50000"/>
            </a:avLst>
          </a:prstGeom>
          <a:solidFill>
            <a:srgbClr val="00A896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777240" y="5166360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</a:t>
            </a:r>
            <a:endParaRPr lang="en-US" sz="1200" dirty="0"/>
          </a:p>
        </p:txBody>
      </p:sp>
      <p:sp>
        <p:nvSpPr>
          <p:cNvPr id="25" name="Text 23"/>
          <p:cNvSpPr txBox="1"/>
          <p:nvPr/>
        </p:nvSpPr>
        <p:spPr>
          <a:xfrm>
            <a:off x="2331720" y="5166360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E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 changes are applied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777240" y="5687568"/>
            <a:ext cx="1371600" cy="329184"/>
          </a:xfrm>
          <a:prstGeom prst="roundRect">
            <a:avLst>
              <a:gd name="adj" fmla="val 50000"/>
            </a:avLst>
          </a:prstGeom>
          <a:solidFill>
            <a:srgbClr val="028090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777240" y="5687568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DELETE</a:t>
            </a:r>
            <a:endParaRPr lang="en-US" sz="1200" dirty="0"/>
          </a:p>
        </p:txBody>
      </p:sp>
      <p:sp>
        <p:nvSpPr>
          <p:cNvPr id="28" name="Text 26"/>
          <p:cNvSpPr txBox="1"/>
          <p:nvPr/>
        </p:nvSpPr>
        <p:spPr>
          <a:xfrm>
            <a:off x="2331720" y="5687568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E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 records are removed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6583680" y="1828800"/>
            <a:ext cx="5056632" cy="4389120"/>
          </a:xfrm>
          <a:prstGeom prst="roundRect">
            <a:avLst>
              <a:gd name="adj" fmla="val 2083"/>
            </a:avLst>
          </a:prstGeom>
          <a:solidFill>
            <a:srgbClr val="0B3A3F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6858000" y="201168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JOIN Types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6858000" y="2560320"/>
            <a:ext cx="1371600" cy="329184"/>
          </a:xfrm>
          <a:prstGeom prst="roundRect">
            <a:avLst>
              <a:gd name="adj" fmla="val 50000"/>
            </a:avLst>
          </a:prstGeom>
          <a:solidFill>
            <a:srgbClr val="028090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6858000" y="2560320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INNER</a:t>
            </a:r>
            <a:endParaRPr lang="en-US" sz="1200" dirty="0"/>
          </a:p>
        </p:txBody>
      </p:sp>
      <p:sp>
        <p:nvSpPr>
          <p:cNvPr id="33" name="Text 31"/>
          <p:cNvSpPr txBox="1"/>
          <p:nvPr/>
        </p:nvSpPr>
        <p:spPr>
          <a:xfrm>
            <a:off x="8412480" y="2487168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FE8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matching records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6858000" y="3273552"/>
            <a:ext cx="1371600" cy="329184"/>
          </a:xfrm>
          <a:prstGeom prst="roundRect">
            <a:avLst>
              <a:gd name="adj" fmla="val 50000"/>
            </a:avLst>
          </a:prstGeom>
          <a:solidFill>
            <a:srgbClr val="00A896"/>
          </a:solidFill>
          <a:ln/>
        </p:spPr>
      </p:sp>
      <p:sp>
        <p:nvSpPr>
          <p:cNvPr id="35" name="Text 33"/>
          <p:cNvSpPr txBox="1"/>
          <p:nvPr/>
        </p:nvSpPr>
        <p:spPr>
          <a:xfrm>
            <a:off x="6858000" y="3273552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LEFT</a:t>
            </a:r>
            <a:endParaRPr lang="en-US" sz="1200" dirty="0"/>
          </a:p>
        </p:txBody>
      </p:sp>
      <p:sp>
        <p:nvSpPr>
          <p:cNvPr id="36" name="Text 34"/>
          <p:cNvSpPr txBox="1"/>
          <p:nvPr/>
        </p:nvSpPr>
        <p:spPr>
          <a:xfrm>
            <a:off x="8412480" y="3200400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FE8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left + matches, e.g. employees with no department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6858000" y="3986784"/>
            <a:ext cx="1371600" cy="329184"/>
          </a:xfrm>
          <a:prstGeom prst="roundRect">
            <a:avLst>
              <a:gd name="adj" fmla="val 50000"/>
            </a:avLst>
          </a:prstGeom>
          <a:solidFill>
            <a:srgbClr val="028090"/>
          </a:solidFill>
          <a:ln/>
        </p:spPr>
      </p:sp>
      <p:sp>
        <p:nvSpPr>
          <p:cNvPr id="38" name="Text 36"/>
          <p:cNvSpPr txBox="1"/>
          <p:nvPr/>
        </p:nvSpPr>
        <p:spPr>
          <a:xfrm>
            <a:off x="6858000" y="3986784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RIGHT</a:t>
            </a:r>
            <a:endParaRPr lang="en-US" sz="1200" dirty="0"/>
          </a:p>
        </p:txBody>
      </p:sp>
      <p:sp>
        <p:nvSpPr>
          <p:cNvPr id="39" name="Text 37"/>
          <p:cNvSpPr txBox="1"/>
          <p:nvPr/>
        </p:nvSpPr>
        <p:spPr>
          <a:xfrm>
            <a:off x="8412480" y="3913632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FE8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right + matches, e.g. departments with no employee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6858000" y="4700016"/>
            <a:ext cx="1371600" cy="329184"/>
          </a:xfrm>
          <a:prstGeom prst="roundRect">
            <a:avLst>
              <a:gd name="adj" fmla="val 50000"/>
            </a:avLst>
          </a:prstGeom>
          <a:solidFill>
            <a:srgbClr val="00A896"/>
          </a:solidFill>
          <a:ln/>
        </p:spPr>
      </p:sp>
      <p:sp>
        <p:nvSpPr>
          <p:cNvPr id="41" name="Text 39"/>
          <p:cNvSpPr txBox="1"/>
          <p:nvPr/>
        </p:nvSpPr>
        <p:spPr>
          <a:xfrm>
            <a:off x="6858000" y="4700016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OUTER</a:t>
            </a:r>
            <a:endParaRPr lang="en-US" sz="1200" dirty="0"/>
          </a:p>
        </p:txBody>
      </p:sp>
      <p:sp>
        <p:nvSpPr>
          <p:cNvPr id="42" name="Text 40"/>
          <p:cNvSpPr txBox="1"/>
          <p:nvPr/>
        </p:nvSpPr>
        <p:spPr>
          <a:xfrm>
            <a:off x="8412480" y="4626864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FE8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Everything, matched where possible</a:t>
            </a:r>
            <a:endParaRPr lang="en-US" sz="1200" dirty="0"/>
          </a:p>
        </p:txBody>
      </p:sp>
      <p:sp>
        <p:nvSpPr>
          <p:cNvPr id="43" name="Shape 41"/>
          <p:cNvSpPr/>
          <p:nvPr/>
        </p:nvSpPr>
        <p:spPr>
          <a:xfrm>
            <a:off x="6858000" y="5440680"/>
            <a:ext cx="4526280" cy="594360"/>
          </a:xfrm>
          <a:prstGeom prst="roundRect">
            <a:avLst>
              <a:gd name="adj" fmla="val 12308"/>
            </a:avLst>
          </a:prstGeom>
          <a:solidFill>
            <a:srgbClr val="0F4A50"/>
          </a:solidFill>
          <a:ln/>
        </p:spPr>
      </p:sp>
      <p:sp>
        <p:nvSpPr>
          <p:cNvPr id="44" name="Text 42"/>
          <p:cNvSpPr txBox="1"/>
          <p:nvPr/>
        </p:nvSpPr>
        <p:spPr>
          <a:xfrm>
            <a:off x="6995160" y="5468112"/>
            <a:ext cx="4297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2C3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Rule: every employee has a name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2C3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* FROM Employee WHERE name IS NULL;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A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3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10972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B2E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Advanced SQL &amp; CTEs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28016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C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Combining, grouping, filtering and reusing query results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10698480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5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48640" y="1828800"/>
            <a:ext cx="3520440" cy="1344168"/>
          </a:xfrm>
          <a:prstGeom prst="roundRect">
            <a:avLst>
              <a:gd name="adj" fmla="val 6803"/>
            </a:avLst>
          </a:prstGeom>
          <a:solidFill>
            <a:srgbClr val="FFFFFF"/>
          </a:solidFill>
          <a:ln w="9525">
            <a:solidFill>
              <a:srgbClr val="E4F3F1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31520" y="2011680"/>
            <a:ext cx="329184" cy="329184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731520" y="201168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1188720" y="1984248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E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UNION vs UNION ALL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731520" y="2487168"/>
            <a:ext cx="3200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C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UNION removes duplicate rows; UNION ALL keeps them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251960" y="1828800"/>
            <a:ext cx="3520440" cy="1344168"/>
          </a:xfrm>
          <a:prstGeom prst="roundRect">
            <a:avLst>
              <a:gd name="adj" fmla="val 6803"/>
            </a:avLst>
          </a:prstGeom>
          <a:solidFill>
            <a:srgbClr val="FFFFFF"/>
          </a:solidFill>
          <a:ln w="9525">
            <a:solidFill>
              <a:srgbClr val="E4F3F1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434840" y="2011680"/>
            <a:ext cx="329184" cy="329184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4434840" y="201168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4892040" y="1984248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E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GROUP BY &amp; HAVING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4434840" y="2487168"/>
            <a:ext cx="3200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C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BY makes the groups; HAVING filters them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48640" y="3310128"/>
            <a:ext cx="3520440" cy="1344168"/>
          </a:xfrm>
          <a:prstGeom prst="roundRect">
            <a:avLst>
              <a:gd name="adj" fmla="val 6803"/>
            </a:avLst>
          </a:prstGeom>
          <a:solidFill>
            <a:srgbClr val="FFFFFF"/>
          </a:solidFill>
          <a:ln w="9525">
            <a:solidFill>
              <a:srgbClr val="E4F3F1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731520" y="3493008"/>
            <a:ext cx="329184" cy="329184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731520" y="349300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1188720" y="3465576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E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EXISTS, ANY, ALL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731520" y="3968496"/>
            <a:ext cx="3200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C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EXISTS: any row? ANY: at least one. ALL: every one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251960" y="3310128"/>
            <a:ext cx="3520440" cy="1344168"/>
          </a:xfrm>
          <a:prstGeom prst="roundRect">
            <a:avLst>
              <a:gd name="adj" fmla="val 6803"/>
            </a:avLst>
          </a:prstGeom>
          <a:solidFill>
            <a:srgbClr val="FFFFFF"/>
          </a:solidFill>
          <a:ln w="9525">
            <a:solidFill>
              <a:srgbClr val="E4F3F1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434840" y="3493008"/>
            <a:ext cx="329184" cy="329184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4434840" y="349300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4892040" y="3465576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E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SELECT INTO vs INSERT INTO SELECT</a:t>
            </a:r>
            <a:endParaRPr lang="en-US" sz="1300" dirty="0"/>
          </a:p>
        </p:txBody>
      </p:sp>
      <p:sp>
        <p:nvSpPr>
          <p:cNvPr id="25" name="Text 23"/>
          <p:cNvSpPr txBox="1"/>
          <p:nvPr/>
        </p:nvSpPr>
        <p:spPr>
          <a:xfrm>
            <a:off x="4434840" y="3968496"/>
            <a:ext cx="3200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C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+ copy a table vs copy into an existing one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548640" y="4791456"/>
            <a:ext cx="3520440" cy="1344168"/>
          </a:xfrm>
          <a:prstGeom prst="roundRect">
            <a:avLst>
              <a:gd name="adj" fmla="val 6803"/>
            </a:avLst>
          </a:prstGeom>
          <a:solidFill>
            <a:srgbClr val="FFFFFF"/>
          </a:solidFill>
          <a:ln w="9525">
            <a:solidFill>
              <a:srgbClr val="E4F3F1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731520" y="4974336"/>
            <a:ext cx="329184" cy="329184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731520" y="497433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29" name="Text 27"/>
          <p:cNvSpPr txBox="1"/>
          <p:nvPr/>
        </p:nvSpPr>
        <p:spPr>
          <a:xfrm>
            <a:off x="1188720" y="4946904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E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CASE &amp; COALESCE</a:t>
            </a:r>
            <a:endParaRPr lang="en-US" sz="1300" dirty="0"/>
          </a:p>
        </p:txBody>
      </p:sp>
      <p:sp>
        <p:nvSpPr>
          <p:cNvPr id="30" name="Text 28"/>
          <p:cNvSpPr txBox="1"/>
          <p:nvPr/>
        </p:nvSpPr>
        <p:spPr>
          <a:xfrm>
            <a:off x="731520" y="5449824"/>
            <a:ext cx="3200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C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/ else-if logic in SQL; replace NULL with a value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4251960" y="4791456"/>
            <a:ext cx="3520440" cy="1344168"/>
          </a:xfrm>
          <a:prstGeom prst="roundRect">
            <a:avLst>
              <a:gd name="adj" fmla="val 6803"/>
            </a:avLst>
          </a:prstGeom>
          <a:solidFill>
            <a:srgbClr val="FFFFFF"/>
          </a:solidFill>
          <a:ln w="9525">
            <a:solidFill>
              <a:srgbClr val="E4F3F1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4434840" y="4974336"/>
            <a:ext cx="329184" cy="329184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33" name="Text 31"/>
          <p:cNvSpPr txBox="1"/>
          <p:nvPr/>
        </p:nvSpPr>
        <p:spPr>
          <a:xfrm>
            <a:off x="4434840" y="497433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200" dirty="0"/>
          </a:p>
        </p:txBody>
      </p:sp>
      <p:sp>
        <p:nvSpPr>
          <p:cNvPr id="34" name="Text 32"/>
          <p:cNvSpPr txBox="1"/>
          <p:nvPr/>
        </p:nvSpPr>
        <p:spPr>
          <a:xfrm>
            <a:off x="4892040" y="4946904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E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Subquery, CTE &amp; Procedure</a:t>
            </a:r>
            <a:endParaRPr lang="en-US" sz="1300" dirty="0"/>
          </a:p>
        </p:txBody>
      </p:sp>
      <p:sp>
        <p:nvSpPr>
          <p:cNvPr id="35" name="Text 33"/>
          <p:cNvSpPr txBox="1"/>
          <p:nvPr/>
        </p:nvSpPr>
        <p:spPr>
          <a:xfrm>
            <a:off x="4434840" y="5449824"/>
            <a:ext cx="3200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C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in a query; WITH temp result; saved reusable commands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8138160" y="1828800"/>
            <a:ext cx="3502152" cy="4306824"/>
          </a:xfrm>
          <a:prstGeom prst="roundRect">
            <a:avLst>
              <a:gd name="adj" fmla="val 2611"/>
            </a:avLst>
          </a:prstGeom>
          <a:solidFill>
            <a:srgbClr val="0B3A3F"/>
          </a:solidFill>
          <a:ln/>
        </p:spPr>
      </p:sp>
      <p:sp>
        <p:nvSpPr>
          <p:cNvPr id="37" name="Text 35"/>
          <p:cNvSpPr txBox="1"/>
          <p:nvPr/>
        </p:nvSpPr>
        <p:spPr>
          <a:xfrm>
            <a:off x="8366760" y="201168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Practical Highlights</a:t>
            </a:r>
            <a:endParaRPr lang="en-US" sz="1600" dirty="0"/>
          </a:p>
        </p:txBody>
      </p:sp>
      <p:sp>
        <p:nvSpPr>
          <p:cNvPr id="38" name="Text 36"/>
          <p:cNvSpPr txBox="1"/>
          <p:nvPr/>
        </p:nvSpPr>
        <p:spPr>
          <a:xfrm>
            <a:off x="8366760" y="2560320"/>
            <a:ext cx="310896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Second-highest salary using ORDER BY + LIMIT</a:t>
            </a:r>
            <a:endParaRPr lang="en-US" sz="13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AVG, MIN and MAX on the Teacher table</a:t>
            </a:r>
            <a:endParaRPr lang="en-US" sz="13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INNER and LEFT JOIN across Students and Department</a:t>
            </a:r>
            <a:endParaRPr lang="en-US" sz="13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count per department with GROUP BY</a:t>
            </a:r>
            <a:endParaRPr lang="en-US" sz="13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mapped fee status for 30 student records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A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4  ·  SEP 29, 2026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10972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B2E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Python, Playwright &amp; Git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28016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C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foundations of test automation and version control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10698480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5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48640" y="1828800"/>
            <a:ext cx="3566160" cy="320040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9525">
            <a:solidFill>
              <a:srgbClr val="E4F3F1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77240" y="2057400"/>
            <a:ext cx="1737360" cy="329184"/>
          </a:xfrm>
          <a:prstGeom prst="roundRect">
            <a:avLst>
              <a:gd name="adj" fmla="val 50000"/>
            </a:avLst>
          </a:prstGeom>
          <a:solidFill>
            <a:srgbClr val="028090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777240" y="2057400"/>
            <a:ext cx="1737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Basics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777240" y="2651760"/>
            <a:ext cx="31089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rgbClr val="1B2E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Variables and data types</a:t>
            </a:r>
            <a:endParaRPr lang="en-US" sz="16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rgbClr val="1B2E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/ else and modulo %</a:t>
            </a:r>
            <a:endParaRPr lang="en-US" sz="16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rgbClr val="1B2E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and while loops</a:t>
            </a:r>
            <a:endParaRPr lang="en-US" sz="16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rgbClr val="1B2E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Lists and functions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4315968" y="1828800"/>
            <a:ext cx="3566160" cy="320040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9525">
            <a:solidFill>
              <a:srgbClr val="E4F3F1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544568" y="2057400"/>
            <a:ext cx="1737360" cy="329184"/>
          </a:xfrm>
          <a:prstGeom prst="roundRect">
            <a:avLst>
              <a:gd name="adj" fmla="val 50000"/>
            </a:avLst>
          </a:prstGeom>
          <a:solidFill>
            <a:srgbClr val="00A896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4544568" y="2057400"/>
            <a:ext cx="1737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Playwright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4544568" y="2651760"/>
            <a:ext cx="31089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rgbClr val="1B2E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pages, click, type</a:t>
            </a:r>
            <a:endParaRPr lang="en-US" sz="16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rgbClr val="1B2E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CSS and XPath locators</a:t>
            </a:r>
            <a:endParaRPr lang="en-US" sz="16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rgbClr val="1B2E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Assertions: toBe, toContain</a:t>
            </a:r>
            <a:endParaRPr lang="en-US" sz="16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rgbClr val="1B2E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toHaveTitle, toHaveURL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8083296" y="1828800"/>
            <a:ext cx="3566160" cy="320040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9525">
            <a:solidFill>
              <a:srgbClr val="E4F3F1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311896" y="2057400"/>
            <a:ext cx="1737360" cy="329184"/>
          </a:xfrm>
          <a:prstGeom prst="roundRect">
            <a:avLst>
              <a:gd name="adj" fmla="val 50000"/>
            </a:avLst>
          </a:prstGeom>
          <a:solidFill>
            <a:srgbClr val="1C7293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311896" y="2057400"/>
            <a:ext cx="1737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&amp; GitHub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8311896" y="2651760"/>
            <a:ext cx="31089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rgbClr val="1B2E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 → add → commit → push</a:t>
            </a:r>
            <a:endParaRPr lang="en-US" sz="16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rgbClr val="1B2E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pull, clone and log</a:t>
            </a:r>
            <a:endParaRPr lang="en-US" sz="16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rgbClr val="1B2E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code versions</a:t>
            </a:r>
            <a:endParaRPr lang="en-US" sz="16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rgbClr val="1B2E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.gitignore skips unneeded files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548640" y="5257800"/>
            <a:ext cx="11091672" cy="1005840"/>
          </a:xfrm>
          <a:prstGeom prst="roundRect">
            <a:avLst>
              <a:gd name="adj" fmla="val 9091"/>
            </a:avLst>
          </a:prstGeom>
          <a:solidFill>
            <a:srgbClr val="0B3A3F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868680" y="5440680"/>
            <a:ext cx="5943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Action  →  Expected Result  →  Assertion</a:t>
            </a:r>
            <a:endParaRPr lang="en-US" sz="2000" dirty="0"/>
          </a:p>
        </p:txBody>
      </p:sp>
      <p:sp>
        <p:nvSpPr>
          <p:cNvPr id="20" name="Text 18"/>
          <p:cNvSpPr txBox="1"/>
          <p:nvPr/>
        </p:nvSpPr>
        <p:spPr>
          <a:xfrm>
            <a:off x="7223760" y="5349240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3000" dirty="0"/>
          </a:p>
        </p:txBody>
      </p:sp>
      <p:sp>
        <p:nvSpPr>
          <p:cNvPr id="21" name="Text 19"/>
          <p:cNvSpPr txBox="1"/>
          <p:nvPr/>
        </p:nvSpPr>
        <p:spPr>
          <a:xfrm>
            <a:off x="7223760" y="585216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FE8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 run</a:t>
            </a:r>
            <a:endParaRPr lang="en-US" sz="1100" dirty="0"/>
          </a:p>
        </p:txBody>
      </p:sp>
      <p:sp>
        <p:nvSpPr>
          <p:cNvPr id="22" name="Text 20"/>
          <p:cNvSpPr txBox="1"/>
          <p:nvPr/>
        </p:nvSpPr>
        <p:spPr>
          <a:xfrm>
            <a:off x="8686800" y="5349240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3000" dirty="0"/>
          </a:p>
        </p:txBody>
      </p:sp>
      <p:sp>
        <p:nvSpPr>
          <p:cNvPr id="23" name="Text 21"/>
          <p:cNvSpPr txBox="1"/>
          <p:nvPr/>
        </p:nvSpPr>
        <p:spPr>
          <a:xfrm>
            <a:off x="8686800" y="585216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FE8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passed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10149840" y="5349240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3000" dirty="0"/>
          </a:p>
        </p:txBody>
      </p:sp>
      <p:sp>
        <p:nvSpPr>
          <p:cNvPr id="25" name="Text 23"/>
          <p:cNvSpPr txBox="1"/>
          <p:nvPr/>
        </p:nvSpPr>
        <p:spPr>
          <a:xfrm>
            <a:off x="10149840" y="585216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FE8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skipped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QA Internship Week 4 Summary</dc:title>
  <dc:subject>PptxGenJS Presentation</dc:subject>
  <dc:creator>Shekhar Singh Rawal</dc:creator>
  <cp:lastModifiedBy>Shekhar Singh Rawal</cp:lastModifiedBy>
  <cp:revision>1</cp:revision>
  <dcterms:created xsi:type="dcterms:W3CDTF">2026-10-04T03:37:54Z</dcterms:created>
  <dcterms:modified xsi:type="dcterms:W3CDTF">2026-10-04T03:37:54Z</dcterms:modified>
</cp:coreProperties>
</file>