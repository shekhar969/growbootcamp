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926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6459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Fundamentals &amp; Browser Architecture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6766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15, 2026  •  Practical: DevTools inspection of client-server flow, DNS/TCP/TLS/HTTP, DOM/CSSOM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5510632" cy="2331720"/>
          </a:xfrm>
          <a:prstGeom prst="roundRect">
            <a:avLst>
              <a:gd name="adj" fmla="val 3137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62763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1572768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vs. Server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11680"/>
            <a:ext cx="5144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— the browser; displays the page and lets the user interact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— processes requests, runs backend logic, accesses the database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— converts a domain name into an IP address (internet's phonebook)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→ TLS → HTTP — connection, security, then the request/response cycle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64408"/>
            <a:ext cx="514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studied: Browser → Web Server → Application → Database → Application → Browser.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23864" y="1481328"/>
            <a:ext cx="5510632" cy="2331720"/>
          </a:xfrm>
          <a:prstGeom prst="roundRect">
            <a:avLst>
              <a:gd name="adj" fmla="val 3137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88456" y="1627632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6784" y="1572768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 (Document Object Model)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6744" y="2011680"/>
            <a:ext cx="2480996" cy="329184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6744" y="2011680"/>
            <a:ext cx="248099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Node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70619" y="2011680"/>
            <a:ext cx="2480996" cy="329184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70619" y="2011680"/>
            <a:ext cx="248099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Node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6744" y="2395728"/>
            <a:ext cx="514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HTML page as a tree of elements that JavaScript can read and modify.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6744" y="2743200"/>
            <a:ext cx="514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example: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6744" y="3017520"/>
            <a:ext cx="514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 →  &lt;html&gt;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&lt;html&gt;  →  &lt;body&gt;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&lt;body&gt;  →  &lt;h1&gt;  →  “Hello”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014216"/>
            <a:ext cx="5510632" cy="1691640"/>
          </a:xfrm>
          <a:prstGeom prst="roundRect">
            <a:avLst>
              <a:gd name="adj" fmla="val 4324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" y="416052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" y="4105656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 to Page Load &amp; Render Pipeline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4714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→ Page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672584"/>
            <a:ext cx="766039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4672584"/>
            <a:ext cx="76603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URL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1406119" y="4645152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515847" y="4672584"/>
            <a:ext cx="766039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515847" y="4672584"/>
            <a:ext cx="76603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Lookup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2281885" y="4645152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391613" y="4672584"/>
            <a:ext cx="766039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391613" y="4672584"/>
            <a:ext cx="76603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Handshake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3157652" y="4645152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67380" y="4672584"/>
            <a:ext cx="766039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267380" y="4672584"/>
            <a:ext cx="76603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4033418" y="4645152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43146" y="4672584"/>
            <a:ext cx="766039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143146" y="4672584"/>
            <a:ext cx="76603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4909185" y="4645152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18913" y="4672584"/>
            <a:ext cx="766039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018913" y="4672584"/>
            <a:ext cx="76603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51297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Pipeline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" y="5330952"/>
            <a:ext cx="941192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0080" y="5330952"/>
            <a:ext cx="9411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1581272" y="5303520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691000" y="5330952"/>
            <a:ext cx="941192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691000" y="5330952"/>
            <a:ext cx="9411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CSSOM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2632192" y="5303520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741920" y="5330952"/>
            <a:ext cx="941192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741920" y="5330952"/>
            <a:ext cx="9411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3683112" y="5303520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792840" y="5330952"/>
            <a:ext cx="941192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792840" y="5330952"/>
            <a:ext cx="9411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4734032" y="5303520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843760" y="5330952"/>
            <a:ext cx="941192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843760" y="5330952"/>
            <a:ext cx="9411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223864" y="4014216"/>
            <a:ext cx="5510632" cy="1691640"/>
          </a:xfrm>
          <a:prstGeom prst="roundRect">
            <a:avLst>
              <a:gd name="adj" fmla="val 4324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388456" y="4160520"/>
            <a:ext cx="256032" cy="256032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726784" y="4105656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Box Model</a:t>
            </a:r>
            <a:endParaRPr lang="en-US" sz="1500" dirty="0"/>
          </a:p>
        </p:txBody>
      </p:sp>
      <p:sp>
        <p:nvSpPr>
          <p:cNvPr id="61" name="Text 59"/>
          <p:cNvSpPr txBox="1"/>
          <p:nvPr/>
        </p:nvSpPr>
        <p:spPr>
          <a:xfrm>
            <a:off x="6406744" y="4489704"/>
            <a:ext cx="514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 →  Padding  →  Border  →  Margin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6406744" y="4946904"/>
            <a:ext cx="514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tabs: Elements (HTML/CSS), Console (errors/JS), Network (requests), Application (storage).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6406744" y="5431536"/>
            <a:ext cx="514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 explains element size &amp; spacing  |  DevTools reveals what's happening under the hood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Shekhar Singh Rawal  |  QA Internship — Week 3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11430000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926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6459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Testing, UI/UX &amp; Accessibility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6766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16, 2026  •  Practical: Buggy design checklist, ParaBank UI/UX audit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5510632" cy="2148840"/>
          </a:xfrm>
          <a:prstGeom prst="roundRect">
            <a:avLst>
              <a:gd name="adj" fmla="val 3404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62763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1572768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vs. Dynamic Testing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38528"/>
            <a:ext cx="514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testing checks a work product without running it; dynamic testing tests by executing the software.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95728"/>
            <a:ext cx="514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1593037" cy="365760"/>
          </a:xfrm>
          <a:prstGeom prst="roundRect">
            <a:avLst>
              <a:gd name="adj" fmla="val 15000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651760"/>
            <a:ext cx="15930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Execution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15997" y="2651760"/>
            <a:ext cx="1593037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415997" y="2651760"/>
            <a:ext cx="15930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Execution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91914" y="2651760"/>
            <a:ext cx="1593037" cy="365760"/>
          </a:xfrm>
          <a:prstGeom prst="roundRect">
            <a:avLst>
              <a:gd name="adj" fmla="val 15000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91914" y="2651760"/>
            <a:ext cx="15930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Defects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23864" y="1481328"/>
            <a:ext cx="5510632" cy="2148840"/>
          </a:xfrm>
          <a:prstGeom prst="roundRect">
            <a:avLst>
              <a:gd name="adj" fmla="val 3404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88456" y="1627632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6784" y="1572768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Reviews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6744" y="1938528"/>
            <a:ext cx="514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examination of a work product to find and resolve defects early in the SDLC.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6744" y="2395728"/>
            <a:ext cx="514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types studied: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6744" y="2651760"/>
            <a:ext cx="1593037" cy="365760"/>
          </a:xfrm>
          <a:prstGeom prst="roundRect">
            <a:avLst>
              <a:gd name="adj" fmla="val 15000"/>
            </a:avLst>
          </a:prstGeom>
          <a:solidFill>
            <a:srgbClr val="F9616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6744" y="2651760"/>
            <a:ext cx="15930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82661" y="2651760"/>
            <a:ext cx="1593037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82661" y="2651760"/>
            <a:ext cx="15930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958578" y="2651760"/>
            <a:ext cx="1593037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958578" y="2651760"/>
            <a:ext cx="15930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831336"/>
            <a:ext cx="5510632" cy="1783080"/>
          </a:xfrm>
          <a:prstGeom prst="roundRect">
            <a:avLst>
              <a:gd name="adj" fmla="val 4103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" y="397764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0120" y="3922776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Process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4288536"/>
            <a:ext cx="514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process for keeping a review organised.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700016"/>
            <a:ext cx="514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→ Initiation → Individual Review → Analysis → Fixing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157216"/>
            <a:ext cx="514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Moderator, Author, Scribe, Reviewer, Manager.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23864" y="3831336"/>
            <a:ext cx="5510632" cy="1783080"/>
          </a:xfrm>
          <a:prstGeom prst="roundRect">
            <a:avLst>
              <a:gd name="adj" fmla="val 4103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88456" y="3977640"/>
            <a:ext cx="256032" cy="256032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26784" y="3922776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WCAG Accessibility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06744" y="4270248"/>
            <a:ext cx="514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standard for making web content accessible to people with disabilities.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406744" y="45811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Principles: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6744" y="4764024"/>
            <a:ext cx="1203922" cy="329184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06744" y="4764024"/>
            <a:ext cx="120392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Perceivable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7610666" y="4736592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720394" y="4764024"/>
            <a:ext cx="1203922" cy="329184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720394" y="4764024"/>
            <a:ext cx="120392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Operable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8924315" y="4736592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034043" y="4764024"/>
            <a:ext cx="1203922" cy="329184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034043" y="4764024"/>
            <a:ext cx="120392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Understandable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10237965" y="4736592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0347693" y="4764024"/>
            <a:ext cx="1203922" cy="329184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0347693" y="4764024"/>
            <a:ext cx="120392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6406744" y="51480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06744" y="5330952"/>
            <a:ext cx="1203922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406744" y="5330952"/>
            <a:ext cx="120392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7610666" y="5303520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720394" y="5330952"/>
            <a:ext cx="1203922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720394" y="5330952"/>
            <a:ext cx="120392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8924315" y="5303520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034043" y="5330952"/>
            <a:ext cx="1203922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9034043" y="5330952"/>
            <a:ext cx="120392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Test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10237965" y="5303520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0347693" y="5330952"/>
            <a:ext cx="1203922" cy="329184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0347693" y="5330952"/>
            <a:ext cx="120392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Found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Shekhar Singh Rawal  |  QA Internship — Week 3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1430000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926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6459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Fundamentals, Types &amp; Design Principles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6766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17, 2026  •  Practical: Network-tab inspection, ReqRes endpoints, 5 API test cases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2668448" cy="1417320"/>
          </a:xfrm>
          <a:prstGeom prst="roundRect">
            <a:avLst>
              <a:gd name="adj" fmla="val 5161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618488"/>
            <a:ext cx="365760" cy="73152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737360"/>
            <a:ext cx="239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03120"/>
            <a:ext cx="2394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style using HTTP + JSON; most common for web/mobile apps.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3326816" y="1481328"/>
            <a:ext cx="2668448" cy="1417320"/>
          </a:xfrm>
          <a:prstGeom prst="roundRect">
            <a:avLst>
              <a:gd name="adj" fmla="val 5161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63976" y="1618488"/>
            <a:ext cx="365760" cy="73152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63976" y="1737360"/>
            <a:ext cx="239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SOAP API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463976" y="2103120"/>
            <a:ext cx="2394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protocol using XML-based messaging; used in enterprise systems.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6196432" y="1481328"/>
            <a:ext cx="2668448" cy="1417320"/>
          </a:xfrm>
          <a:prstGeom prst="roundRect">
            <a:avLst>
              <a:gd name="adj" fmla="val 5161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33592" y="1618488"/>
            <a:ext cx="365760" cy="73152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33592" y="1737360"/>
            <a:ext cx="239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GraphQL API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333592" y="2103120"/>
            <a:ext cx="2394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language letting clients request exactly the data they need.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9066047" y="1481328"/>
            <a:ext cx="2668448" cy="1417320"/>
          </a:xfrm>
          <a:prstGeom prst="roundRect">
            <a:avLst>
              <a:gd name="adj" fmla="val 5161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03207" y="1618488"/>
            <a:ext cx="365760" cy="73152"/>
          </a:xfrm>
          <a:prstGeom prst="roundRect">
            <a:avLst/>
          </a:prstGeom>
          <a:solidFill>
            <a:srgbClr val="013A4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03207" y="1737360"/>
            <a:ext cx="239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WebSocket API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203207" y="2103120"/>
            <a:ext cx="2394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real-time, two-way communication between client and server.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457200" y="3099816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324612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0120" y="3191256"/>
            <a:ext cx="10637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Design Principles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557016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Resource-based URLs — nouns, not verbs (e.g. /users)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3436544" y="3557016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— each request is self-contained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233008" y="3557016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use of HTTP methods &amp; status codes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029471" y="3557016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default — auth required on every request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215384"/>
            <a:ext cx="5510632" cy="1463040"/>
          </a:xfrm>
          <a:prstGeom prst="roundRect">
            <a:avLst>
              <a:gd name="adj" fmla="val 5000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" y="4361688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0120" y="4306824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Components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718304"/>
            <a:ext cx="514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→ HTTP Method → Header → Request/Response Body → Status Code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175504"/>
            <a:ext cx="514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/api/users/2  →  200 OK with user data in JSON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23864" y="4215384"/>
            <a:ext cx="5510632" cy="1463040"/>
          </a:xfrm>
          <a:prstGeom prst="roundRect">
            <a:avLst>
              <a:gd name="adj" fmla="val 5000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88456" y="4361688"/>
            <a:ext cx="256032" cy="256032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26784" y="4306824"/>
            <a:ext cx="487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Auth, Versioning &amp; Rate Limiting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06744" y="4718304"/>
            <a:ext cx="514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 — signed token in the Authorization header to prove identity  |  OAuth — delegated authorization via access tokens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406744" y="5129784"/>
            <a:ext cx="514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Versioning — e.g. /api/v1/users  |  Rate Limiting — caps requests per client/time window to prevent abuse</a:t>
            </a:r>
            <a:endParaRPr lang="en-US" sz="97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Shekhar Singh Rawal  |  QA Internship — Week 3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430000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926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4-5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6459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Postman &amp; API Testing Revision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6766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18 &amp; 21, 2026  •  Practical: Week 3 mock test, Add to Cart test cases (TC-01–TC-04)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3624986" cy="1234440"/>
          </a:xfrm>
          <a:prstGeom prst="roundRect">
            <a:avLst>
              <a:gd name="adj" fmla="val 5926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62763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1572768"/>
            <a:ext cx="298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Environment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29968"/>
            <a:ext cx="32592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“Valid endpoint access &amp; test data ready before execution”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83354" y="1481328"/>
            <a:ext cx="3624986" cy="1234440"/>
          </a:xfrm>
          <a:prstGeom prst="roundRect">
            <a:avLst>
              <a:gd name="adj" fmla="val 5926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47946" y="1627632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86274" y="1572768"/>
            <a:ext cx="298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Checks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66234" y="2029968"/>
            <a:ext cx="32592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“Status code, response body, headers &amp; business rules — not just 200 OK”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9509" y="1481328"/>
            <a:ext cx="3624986" cy="1234440"/>
          </a:xfrm>
          <a:prstGeom prst="roundRect">
            <a:avLst>
              <a:gd name="adj" fmla="val 5926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4101" y="162763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12429" y="1572768"/>
            <a:ext cx="298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Data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2389" y="2029968"/>
            <a:ext cx="32592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“Multiple data sets for data-driven &amp; boundary coverage”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916936"/>
            <a:ext cx="5538064" cy="1600200"/>
          </a:xfrm>
          <a:prstGeom prst="roundRect">
            <a:avLst>
              <a:gd name="adj" fmla="val 4571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" y="3063240"/>
            <a:ext cx="256032" cy="256032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3008376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 Case Structure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419856"/>
            <a:ext cx="1650949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3419856"/>
            <a:ext cx="1650949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291029" y="3392424"/>
            <a:ext cx="128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00757" y="3419856"/>
            <a:ext cx="1650949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400757" y="3419856"/>
            <a:ext cx="1650949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051706" y="3392424"/>
            <a:ext cx="128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61434" y="3419856"/>
            <a:ext cx="1650949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161434" y="3419856"/>
            <a:ext cx="1650949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0080" y="3849624"/>
            <a:ext cx="2531288" cy="347472"/>
          </a:xfrm>
          <a:prstGeom prst="roundRect">
            <a:avLst>
              <a:gd name="adj" fmla="val 15789"/>
            </a:avLst>
          </a:prstGeom>
          <a:solidFill>
            <a:srgbClr val="00A8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" y="3849624"/>
            <a:ext cx="253128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Headers/Body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3171368" y="3822192"/>
            <a:ext cx="128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81096" y="3849624"/>
            <a:ext cx="2531288" cy="347472"/>
          </a:xfrm>
          <a:prstGeom prst="roundRect">
            <a:avLst>
              <a:gd name="adj" fmla="val 15789"/>
            </a:avLst>
          </a:prstGeom>
          <a:solidFill>
            <a:srgbClr val="00A89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281096" y="3849624"/>
            <a:ext cx="253128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vs. Actual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251960"/>
            <a:ext cx="517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fields: Test ID, Description, Endpoint, Precondition, Request Header/Body, Expected Status, Expected Result, Actual Result.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96432" y="2916936"/>
            <a:ext cx="5538064" cy="1600200"/>
          </a:xfrm>
          <a:prstGeom prst="roundRect">
            <a:avLst>
              <a:gd name="adj" fmla="val 4571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61024" y="306324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699352" y="3008376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to Cart — Test Case Design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379312" y="3374136"/>
            <a:ext cx="517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&amp; negative test cases for Add to Cart on the QA enrollment platform (qa-enroll.corenroll.com).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6379312" y="3785616"/>
            <a:ext cx="1210780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379312" y="3785616"/>
            <a:ext cx="12107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 Valid Data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7590092" y="3758184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699819" y="3785616"/>
            <a:ext cx="1210780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699819" y="3785616"/>
            <a:ext cx="12107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 Invalid ID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8910599" y="3758184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020327" y="3785616"/>
            <a:ext cx="1210780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020327" y="3785616"/>
            <a:ext cx="12107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 Invalid Plan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10231107" y="3758184"/>
            <a:ext cx="128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0340835" y="3785616"/>
            <a:ext cx="1210780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0340835" y="3785616"/>
            <a:ext cx="12107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 Missing Auth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6379312" y="4233672"/>
            <a:ext cx="517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add-plan-to-cart, verified via get-plan-cart; 400/401/404 expected on negative cases.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4718304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3A4A4D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1792" y="4864608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60120" y="4809744"/>
            <a:ext cx="10637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HTTP Status Codes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640080" y="5157216"/>
            <a:ext cx="34542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 ·  204 No Content  ·  308 Permanent Redirect</a:t>
            </a:r>
            <a:endParaRPr lang="en-US" sz="930" dirty="0"/>
          </a:p>
        </p:txBody>
      </p:sp>
      <p:sp>
        <p:nvSpPr>
          <p:cNvPr id="56" name="Text 54"/>
          <p:cNvSpPr txBox="1"/>
          <p:nvPr/>
        </p:nvSpPr>
        <p:spPr>
          <a:xfrm>
            <a:off x="4368698" y="5157216"/>
            <a:ext cx="34542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  ·  401 Unauthorized  ·  403 Forbidden  ·  404 Not Found  ·  408 Request Timeout</a:t>
            </a:r>
            <a:endParaRPr lang="en-US" sz="930" dirty="0"/>
          </a:p>
        </p:txBody>
      </p:sp>
      <p:sp>
        <p:nvSpPr>
          <p:cNvPr id="57" name="Text 55"/>
          <p:cNvSpPr txBox="1"/>
          <p:nvPr/>
        </p:nvSpPr>
        <p:spPr>
          <a:xfrm>
            <a:off x="8097317" y="5157216"/>
            <a:ext cx="34542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 Too Many Requests  ·  500 Internal Server Error  ·  503 Service Unavailable</a:t>
            </a:r>
            <a:endParaRPr lang="en-US" sz="93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Shekhar Singh Rawal  |  QA Internship — Week 3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11430000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2026-09-17T15:06:57Z</dcterms:created>
  <dcterms:modified xsi:type="dcterms:W3CDTF">2026-09-17T15:06:57Z</dcterms:modified>
</cp:coreProperties>
</file>