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926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6459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 Design &amp; Fundamentals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676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8, 2026  •  Practical: Aaravya Clothing website — Add to Cart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5510632" cy="2331720"/>
          </a:xfrm>
          <a:prstGeom prst="roundRect">
            <a:avLst>
              <a:gd name="adj" fmla="val 313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62763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1572768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 Elements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11680"/>
            <a:ext cx="514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Pre-condition — must be true before the test runs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Steps — actions performed during execution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 — outcome after the steps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Post-condition — state of the system after execution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64408"/>
            <a:ext cx="514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test cases: clear, one purpose, traceable, repeatable, independent.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23864" y="1481328"/>
            <a:ext cx="5510632" cy="2331720"/>
          </a:xfrm>
          <a:prstGeom prst="roundRect">
            <a:avLst>
              <a:gd name="adj" fmla="val 313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88456" y="1627632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6784" y="1572768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 Types &amp; Priority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6744" y="2011680"/>
            <a:ext cx="2480996" cy="329184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6744" y="2011680"/>
            <a:ext cx="248099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— valid input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70619" y="2011680"/>
            <a:ext cx="2480996" cy="329184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70619" y="2011680"/>
            <a:ext cx="248099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— invalid input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6744" y="2395728"/>
            <a:ext cx="514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valid login credentials  vs.  invalid credentials → error shown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6744" y="2743200"/>
            <a:ext cx="514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 approaches: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6744" y="3017520"/>
            <a:ext cx="514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— high-risk / critical features first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Coverage-based — cases giving greatest coverage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Requirement-based — by requirement importance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014216"/>
            <a:ext cx="5510632" cy="1691640"/>
          </a:xfrm>
          <a:prstGeom prst="roundRect">
            <a:avLst>
              <a:gd name="adj" fmla="val 4324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" y="416052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" y="4105656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STLC &amp; Bug Life Cycle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4714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672584"/>
            <a:ext cx="766039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4672584"/>
            <a:ext cx="76603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Analysis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1406119" y="4645152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515847" y="4672584"/>
            <a:ext cx="766039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515847" y="4672584"/>
            <a:ext cx="76603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Planning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2281885" y="4645152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391613" y="4672584"/>
            <a:ext cx="766039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391613" y="4672584"/>
            <a:ext cx="76603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Dev.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3157652" y="4645152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67380" y="4672584"/>
            <a:ext cx="766039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267380" y="4672584"/>
            <a:ext cx="76603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Setup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4033418" y="4645152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43146" y="4672584"/>
            <a:ext cx="766039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143146" y="4672584"/>
            <a:ext cx="76603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4909185" y="4645152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18913" y="4672584"/>
            <a:ext cx="766039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018913" y="4672584"/>
            <a:ext cx="76603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51297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Life Cycle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" y="5330952"/>
            <a:ext cx="941192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0080" y="5330952"/>
            <a:ext cx="9411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1581272" y="5303520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691000" y="5330952"/>
            <a:ext cx="941192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691000" y="5330952"/>
            <a:ext cx="9411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2632192" y="5303520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741920" y="5330952"/>
            <a:ext cx="941192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741920" y="5330952"/>
            <a:ext cx="9411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3683112" y="5303520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792840" y="5330952"/>
            <a:ext cx="941192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792840" y="5330952"/>
            <a:ext cx="9411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4734032" y="5303520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843760" y="5330952"/>
            <a:ext cx="941192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843760" y="5330952"/>
            <a:ext cx="9411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223864" y="4014216"/>
            <a:ext cx="5510632" cy="1691640"/>
          </a:xfrm>
          <a:prstGeom prst="roundRect">
            <a:avLst>
              <a:gd name="adj" fmla="val 4324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388456" y="4160520"/>
            <a:ext cx="256032" cy="256032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726784" y="4105656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 &amp; Bug Reports</a:t>
            </a:r>
            <a:endParaRPr lang="en-US" sz="1500" dirty="0"/>
          </a:p>
        </p:txBody>
      </p:sp>
      <p:sp>
        <p:nvSpPr>
          <p:cNvPr id="61" name="Text 59"/>
          <p:cNvSpPr txBox="1"/>
          <p:nvPr/>
        </p:nvSpPr>
        <p:spPr>
          <a:xfrm>
            <a:off x="6406744" y="4489704"/>
            <a:ext cx="514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 →  Test Condition  →  Test Case  →  Defect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6406744" y="4946904"/>
            <a:ext cx="514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 elements: ID, Title, Description, Severity, Priority, Steps to Reproduce, Reported By, Status, Fixed By, Closed On.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6406744" y="5431536"/>
            <a:ext cx="514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= impact of the defect  |  Priority = urgency to fix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Shekhar Singh Rawal  |  QA Internship — Week 2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11430000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926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6459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Test Design Techniques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676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9, 2026  •  Practical: phone-number EP/BVA, ATM decision table, order-lifecycle states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5510632" cy="2148840"/>
          </a:xfrm>
          <a:prstGeom prst="roundRect">
            <a:avLst>
              <a:gd name="adj" fmla="val 3404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62763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1572768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Equivalence Partitioning (EP)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38528"/>
            <a:ext cx="514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similar inputs so one representative value tests the whole group.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95728"/>
            <a:ext cx="514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field (1–100):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1593037" cy="365760"/>
          </a:xfrm>
          <a:prstGeom prst="roundRect">
            <a:avLst>
              <a:gd name="adj" fmla="val 15000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651760"/>
            <a:ext cx="15930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low: -5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15997" y="2651760"/>
            <a:ext cx="1593037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415997" y="2651760"/>
            <a:ext cx="15930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Valid: 25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91914" y="2651760"/>
            <a:ext cx="1593037" cy="365760"/>
          </a:xfrm>
          <a:prstGeom prst="roundRect">
            <a:avLst>
              <a:gd name="adj" fmla="val 15000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91914" y="2651760"/>
            <a:ext cx="15930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high: 150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23864" y="1481328"/>
            <a:ext cx="5510632" cy="2148840"/>
          </a:xfrm>
          <a:prstGeom prst="roundRect">
            <a:avLst>
              <a:gd name="adj" fmla="val 3404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88456" y="1627632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6784" y="1572768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Value Analysis (BVA)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6744" y="1938528"/>
            <a:ext cx="514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values at or around the limits of a range — boundaries hide the most defects.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6744" y="2395728"/>
            <a:ext cx="514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applies when order &gt; 500: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6744" y="2651760"/>
            <a:ext cx="1593037" cy="365760"/>
          </a:xfrm>
          <a:prstGeom prst="roundRect">
            <a:avLst>
              <a:gd name="adj" fmla="val 15000"/>
            </a:avLst>
          </a:prstGeom>
          <a:solidFill>
            <a:srgbClr val="F9616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6744" y="2651760"/>
            <a:ext cx="15930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82661" y="2651760"/>
            <a:ext cx="1593037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82661" y="2651760"/>
            <a:ext cx="15930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958578" y="2651760"/>
            <a:ext cx="1593037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958578" y="2651760"/>
            <a:ext cx="15930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831336"/>
            <a:ext cx="5510632" cy="1783080"/>
          </a:xfrm>
          <a:prstGeom prst="roundRect">
            <a:avLst>
              <a:gd name="adj" fmla="val 4103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" y="397764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0120" y="3922776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Table Testing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288536"/>
            <a:ext cx="514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the output depends on multiple combined conditions.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700016"/>
            <a:ext cx="514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approval: Income ≥ 250K  AND  Credit Score &gt; 700 → Approved (else Rejected)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157216"/>
            <a:ext cx="514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studied: ATM decision table — combinations of conditions drive cash dispensed vs. message shown.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23864" y="3831336"/>
            <a:ext cx="5510632" cy="1783080"/>
          </a:xfrm>
          <a:prstGeom prst="roundRect">
            <a:avLst>
              <a:gd name="adj" fmla="val 4103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88456" y="3977640"/>
            <a:ext cx="256032" cy="256032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26784" y="3922776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Transition Testing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06744" y="4270248"/>
            <a:ext cx="514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how a system moves between states on an event/action.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406744" y="45811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Valid: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6744" y="4764024"/>
            <a:ext cx="1203922" cy="329184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06744" y="4764024"/>
            <a:ext cx="120392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7610666" y="4736592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720394" y="4764024"/>
            <a:ext cx="1203922" cy="329184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720394" y="4764024"/>
            <a:ext cx="120392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In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8924315" y="4736592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034043" y="4764024"/>
            <a:ext cx="1203922" cy="329184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034043" y="4764024"/>
            <a:ext cx="120392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Entered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10237965" y="4736592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0347693" y="4764024"/>
            <a:ext cx="1203922" cy="329184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0347693" y="4764024"/>
            <a:ext cx="120392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Out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6406744" y="51480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Invalid: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06744" y="5330952"/>
            <a:ext cx="1203922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406744" y="5330952"/>
            <a:ext cx="120392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7610666" y="5303520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720394" y="5330952"/>
            <a:ext cx="1203922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720394" y="5330952"/>
            <a:ext cx="120392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In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8924315" y="5303520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034043" y="5330952"/>
            <a:ext cx="1203922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9034043" y="5330952"/>
            <a:ext cx="120392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Wrong PIN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10237965" y="5303520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0347693" y="5330952"/>
            <a:ext cx="1203922" cy="329184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0347693" y="5330952"/>
            <a:ext cx="120392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Shekhar Singh Rawal  |  QA Internship — Week 2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430000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926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6459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Levels &amp; White-Box Basics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676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10, 2026  •  Practical: DemoQA Book Store — Login, Profile, Book Store API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2668448" cy="1417320"/>
          </a:xfrm>
          <a:prstGeom prst="roundRect">
            <a:avLst>
              <a:gd name="adj" fmla="val 5161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618488"/>
            <a:ext cx="365760" cy="73152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737360"/>
            <a:ext cx="239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03120"/>
            <a:ext cx="2394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function tested in isolation — e.g. book-search input validation.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3326816" y="1481328"/>
            <a:ext cx="2668448" cy="1417320"/>
          </a:xfrm>
          <a:prstGeom prst="roundRect">
            <a:avLst>
              <a:gd name="adj" fmla="val 5161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63976" y="1618488"/>
            <a:ext cx="365760" cy="73152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63976" y="1737360"/>
            <a:ext cx="239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463976" y="2103120"/>
            <a:ext cx="2394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Two+ components interact correctly — e.g. Book data ↔ Book Store UI.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6196432" y="1481328"/>
            <a:ext cx="2668448" cy="1417320"/>
          </a:xfrm>
          <a:prstGeom prst="roundRect">
            <a:avLst>
              <a:gd name="adj" fmla="val 5161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33592" y="1618488"/>
            <a:ext cx="365760" cy="73152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33592" y="1737360"/>
            <a:ext cx="239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Testing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33592" y="2103120"/>
            <a:ext cx="2394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integrated app vs. requirements — e.g. complete Book Store workflow.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9066047" y="1481328"/>
            <a:ext cx="2668448" cy="1417320"/>
          </a:xfrm>
          <a:prstGeom prst="roundRect">
            <a:avLst>
              <a:gd name="adj" fmla="val 5161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03207" y="1618488"/>
            <a:ext cx="365760" cy="73152"/>
          </a:xfrm>
          <a:prstGeom prst="roundRect">
            <a:avLst/>
          </a:prstGeom>
          <a:solidFill>
            <a:srgbClr val="013A4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03207" y="1737360"/>
            <a:ext cx="239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Testing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203207" y="2103120"/>
            <a:ext cx="2394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is acceptable to users/business per agreed requirements.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457200" y="3099816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324612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0120" y="3191256"/>
            <a:ext cx="10637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Testing Approaches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557016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Big-Bang — integrate all at once; simple but hard to isolate faults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436544" y="3557016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— start from lower-level components upward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233008" y="3557016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— start from higher-level components downward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029471" y="3557016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Hybrid/Sandwich — combines Bottom-Up + Top-Down in parallel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215384"/>
            <a:ext cx="5510632" cy="1463040"/>
          </a:xfrm>
          <a:prstGeom prst="roundRect">
            <a:avLst>
              <a:gd name="adj" fmla="val 50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" y="4361688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0120" y="4306824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 Coverage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718304"/>
            <a:ext cx="514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Coverage = (Executed Statements ÷ Total Executable Statements) × 100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175504"/>
            <a:ext cx="514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executable statements, all triggered by TC1+TC2 together → 4/4 × 100 = 100%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23864" y="4215384"/>
            <a:ext cx="5510632" cy="1463040"/>
          </a:xfrm>
          <a:prstGeom prst="roundRect">
            <a:avLst>
              <a:gd name="adj" fmla="val 50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88456" y="4361688"/>
            <a:ext cx="256032" cy="256032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26784" y="4306824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Coverage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06744" y="4718304"/>
            <a:ext cx="514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whether every decision outcome (true / false) has been executed.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406744" y="5129784"/>
            <a:ext cx="514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(age ≥ 18): True→allow(), False→deny()  →  2/2 × 100 = 100%  (doesn't guarantee full requirement/security coverage)</a:t>
            </a:r>
            <a:endParaRPr lang="en-US" sz="97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Shekhar Singh Rawal  |  QA Internship — Week 2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430000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926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6459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Types &amp; Experience-Based Techniques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676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11, 2026  •  Practical: ParaBank type selection, Profile regression, DemoQA Book Store E2E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3624986" cy="1234440"/>
          </a:xfrm>
          <a:prstGeom prst="roundRect">
            <a:avLst>
              <a:gd name="adj" fmla="val 5926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62763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1572768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Smoke Testing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29968"/>
            <a:ext cx="32592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the build stable enough to test?"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83354" y="1481328"/>
            <a:ext cx="3624986" cy="1234440"/>
          </a:xfrm>
          <a:prstGeom prst="roundRect">
            <a:avLst>
              <a:gd name="adj" fmla="val 5926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47946" y="1627632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86274" y="1572768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 Testing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66234" y="2029968"/>
            <a:ext cx="32592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this specific fix/change work?"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9509" y="1481328"/>
            <a:ext cx="3624986" cy="1234440"/>
          </a:xfrm>
          <a:prstGeom prst="roundRect">
            <a:avLst>
              <a:gd name="adj" fmla="val 5926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4101" y="162763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12429" y="1572768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Testing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2389" y="2029968"/>
            <a:ext cx="32592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the change break existing features?"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916936"/>
            <a:ext cx="5538064" cy="1600200"/>
          </a:xfrm>
          <a:prstGeom prst="roundRect">
            <a:avLst>
              <a:gd name="adj" fmla="val 4571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" y="3063240"/>
            <a:ext cx="256032" cy="256032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3008376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Testing Workflow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419856"/>
            <a:ext cx="1650949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3419856"/>
            <a:ext cx="1650949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Change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291029" y="3392424"/>
            <a:ext cx="128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00757" y="3419856"/>
            <a:ext cx="1650949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400757" y="3419856"/>
            <a:ext cx="1650949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Tests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051706" y="3392424"/>
            <a:ext cx="128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61434" y="3419856"/>
            <a:ext cx="1650949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161434" y="3419856"/>
            <a:ext cx="1650949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080" y="3849624"/>
            <a:ext cx="2531288" cy="347472"/>
          </a:xfrm>
          <a:prstGeom prst="roundRect">
            <a:avLst>
              <a:gd name="adj" fmla="val 15789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" y="3849624"/>
            <a:ext cx="253128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Result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3171368" y="3822192"/>
            <a:ext cx="128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81096" y="3849624"/>
            <a:ext cx="2531288" cy="347472"/>
          </a:xfrm>
          <a:prstGeom prst="roundRect">
            <a:avLst>
              <a:gd name="adj" fmla="val 15789"/>
            </a:avLst>
          </a:prstGeom>
          <a:solidFill>
            <a:srgbClr val="00A89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281096" y="3849624"/>
            <a:ext cx="253128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Retest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251960"/>
            <a:ext cx="517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full regression (broad impact) vs. targeted/partial (limited change) — e.g. Profile module change re-ran only dependent tests.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96432" y="2916936"/>
            <a:ext cx="5538064" cy="1600200"/>
          </a:xfrm>
          <a:prstGeom prst="roundRect">
            <a:avLst>
              <a:gd name="adj" fmla="val 4571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61024" y="306324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699352" y="3008376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Testing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379312" y="3374136"/>
            <a:ext cx="517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 complete user journey, start to finish (may span UI → API → DB → external service).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6379312" y="3785616"/>
            <a:ext cx="121078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379312" y="3785616"/>
            <a:ext cx="12107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7590092" y="3758184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699819" y="3785616"/>
            <a:ext cx="121078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699819" y="3785616"/>
            <a:ext cx="12107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Book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8910599" y="3758184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020327" y="3785616"/>
            <a:ext cx="121078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020327" y="3785616"/>
            <a:ext cx="12107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Collection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10231107" y="3758184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0340835" y="3785616"/>
            <a:ext cx="121078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0340835" y="3785616"/>
            <a:ext cx="12107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Profile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6379312" y="4233672"/>
            <a:ext cx="517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DemoQA Book Store scenario — UI + API activities with a DB verification point.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4718304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1792" y="4864608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60120" y="4809744"/>
            <a:ext cx="10637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Experience-Based Techniques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640080" y="5157216"/>
            <a:ext cx="34542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Guessing — use past experience to predict likely defect spots (e.g. stray spaces in email fields)</a:t>
            </a:r>
            <a:endParaRPr lang="en-US" sz="930" dirty="0"/>
          </a:p>
        </p:txBody>
      </p:sp>
      <p:sp>
        <p:nvSpPr>
          <p:cNvPr id="56" name="Text 54"/>
          <p:cNvSpPr txBox="1"/>
          <p:nvPr/>
        </p:nvSpPr>
        <p:spPr>
          <a:xfrm>
            <a:off x="4368698" y="5157216"/>
            <a:ext cx="34542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— learn the app while testing it, without a fixed script</a:t>
            </a:r>
            <a:endParaRPr lang="en-US" sz="930" dirty="0"/>
          </a:p>
        </p:txBody>
      </p:sp>
      <p:sp>
        <p:nvSpPr>
          <p:cNvPr id="57" name="Text 55"/>
          <p:cNvSpPr txBox="1"/>
          <p:nvPr/>
        </p:nvSpPr>
        <p:spPr>
          <a:xfrm>
            <a:off x="8097317" y="5157216"/>
            <a:ext cx="34542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Checklist-Based Testing — a checklist built from known problem areas guides verification</a:t>
            </a:r>
            <a:endParaRPr lang="en-US" sz="93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Shekhar Singh Rawal  |  QA Internship — Week 2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11430000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2026-09-17T15:06:57Z</dcterms:created>
  <dcterms:modified xsi:type="dcterms:W3CDTF">2026-09-17T15:06:57Z</dcterms:modified>
</cp:coreProperties>
</file>