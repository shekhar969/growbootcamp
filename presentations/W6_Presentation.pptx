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  <Relationship Id="rId12" Type="http://schemas.openxmlformats.org/officeDocument/2006/relationships/slide" Target="slides/slide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INTERNSHIP  ·  WEEK 6 PROGRESS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Performance Testing: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Weak Spots Early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recap of everything covered this week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1–5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1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Top 10 &amp; Security Testing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ten most critical web risks, and how security testing finds them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7132320" cy="32004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7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Top 10</a:t>
            </a:r>
            <a:endParaRPr lang="en-US" sz="1600" dirty="0"/>
          </a:p>
        </p:txBody>
      </p:sp>
      <p:sp>
        <p:nvSpPr>
          <p:cNvPr id="8" name="Shape 8"/>
          <p:cNvSpPr/>
          <p:nvPr/>
        </p:nvSpPr>
        <p:spPr>
          <a:xfrm>
            <a:off x="777240" y="24231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7772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1234440" y="238658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777240" y="292608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77724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1234440" y="288950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777240" y="34290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5"/>
          <p:cNvSpPr txBox="1"/>
          <p:nvPr/>
        </p:nvSpPr>
        <p:spPr>
          <a:xfrm>
            <a:off x="7772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1234440" y="339242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17" name="Shape 17"/>
          <p:cNvSpPr/>
          <p:nvPr/>
        </p:nvSpPr>
        <p:spPr>
          <a:xfrm>
            <a:off x="777240" y="3931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7772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1234440" y="389534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777240" y="443484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21"/>
          <p:cNvSpPr txBox="1"/>
          <p:nvPr/>
        </p:nvSpPr>
        <p:spPr>
          <a:xfrm>
            <a:off x="77724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1234440" y="439826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300" dirty="0"/>
          </a:p>
        </p:txBody>
      </p:sp>
      <p:sp>
        <p:nvSpPr>
          <p:cNvPr id="23" name="Shape 23"/>
          <p:cNvSpPr/>
          <p:nvPr/>
        </p:nvSpPr>
        <p:spPr>
          <a:xfrm>
            <a:off x="4251960" y="242316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4"/>
          <p:cNvSpPr txBox="1"/>
          <p:nvPr/>
        </p:nvSpPr>
        <p:spPr>
          <a:xfrm>
            <a:off x="425196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4709160" y="238658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&amp; Outdated Components</a:t>
            </a:r>
            <a:endParaRPr lang="en-US" sz="1300" dirty="0"/>
          </a:p>
        </p:txBody>
      </p:sp>
      <p:sp>
        <p:nvSpPr>
          <p:cNvPr id="26" name="Shape 26"/>
          <p:cNvSpPr/>
          <p:nvPr/>
        </p:nvSpPr>
        <p:spPr>
          <a:xfrm>
            <a:off x="4251960" y="29260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7"/>
          <p:cNvSpPr txBox="1"/>
          <p:nvPr/>
        </p:nvSpPr>
        <p:spPr>
          <a:xfrm>
            <a:off x="42519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4709160" y="288950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Auth Failures</a:t>
            </a:r>
            <a:endParaRPr lang="en-US" sz="1300" dirty="0"/>
          </a:p>
        </p:txBody>
      </p:sp>
      <p:sp>
        <p:nvSpPr>
          <p:cNvPr id="29" name="Shape 29"/>
          <p:cNvSpPr/>
          <p:nvPr/>
        </p:nvSpPr>
        <p:spPr>
          <a:xfrm>
            <a:off x="4251960" y="342900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30"/>
          <p:cNvSpPr txBox="1"/>
          <p:nvPr/>
        </p:nvSpPr>
        <p:spPr>
          <a:xfrm>
            <a:off x="425196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31"/>
          <p:cNvSpPr txBox="1"/>
          <p:nvPr/>
        </p:nvSpPr>
        <p:spPr>
          <a:xfrm>
            <a:off x="4709160" y="339242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Data Integrity</a:t>
            </a:r>
            <a:endParaRPr lang="en-US" sz="1300" dirty="0"/>
          </a:p>
        </p:txBody>
      </p:sp>
      <p:sp>
        <p:nvSpPr>
          <p:cNvPr id="32" name="Shape 32"/>
          <p:cNvSpPr/>
          <p:nvPr/>
        </p:nvSpPr>
        <p:spPr>
          <a:xfrm>
            <a:off x="4251960" y="393192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3"/>
          <p:cNvSpPr txBox="1"/>
          <p:nvPr/>
        </p:nvSpPr>
        <p:spPr>
          <a:xfrm>
            <a:off x="425196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Text 34"/>
          <p:cNvSpPr txBox="1"/>
          <p:nvPr/>
        </p:nvSpPr>
        <p:spPr>
          <a:xfrm>
            <a:off x="4709160" y="389534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 Failures</a:t>
            </a:r>
            <a:endParaRPr lang="en-US" sz="1300" dirty="0"/>
          </a:p>
        </p:txBody>
      </p:sp>
      <p:sp>
        <p:nvSpPr>
          <p:cNvPr id="35" name="Shape 35"/>
          <p:cNvSpPr/>
          <p:nvPr/>
        </p:nvSpPr>
        <p:spPr>
          <a:xfrm>
            <a:off x="4251960" y="443484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6"/>
          <p:cNvSpPr txBox="1"/>
          <p:nvPr/>
        </p:nvSpPr>
        <p:spPr>
          <a:xfrm>
            <a:off x="425196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Text 37"/>
          <p:cNvSpPr txBox="1"/>
          <p:nvPr/>
        </p:nvSpPr>
        <p:spPr>
          <a:xfrm>
            <a:off x="4709160" y="4398264"/>
            <a:ext cx="288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Forgery</a:t>
            </a:r>
            <a:endParaRPr lang="en-US" sz="1300" dirty="0"/>
          </a:p>
        </p:txBody>
      </p:sp>
      <p:sp>
        <p:nvSpPr>
          <p:cNvPr id="38" name="Shape 38"/>
          <p:cNvSpPr/>
          <p:nvPr/>
        </p:nvSpPr>
        <p:spPr>
          <a:xfrm>
            <a:off x="7863840" y="1828800"/>
            <a:ext cx="3776472" cy="320040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9" name="Text 39"/>
          <p:cNvSpPr txBox="1"/>
          <p:nvPr/>
        </p:nvSpPr>
        <p:spPr>
          <a:xfrm>
            <a:off x="8092440" y="2011680"/>
            <a:ext cx="33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Testing Types</a:t>
            </a:r>
            <a:endParaRPr lang="en-US" sz="1600" dirty="0"/>
          </a:p>
        </p:txBody>
      </p:sp>
      <p:sp>
        <p:nvSpPr>
          <p:cNvPr id="40" name="Shape 40"/>
          <p:cNvSpPr/>
          <p:nvPr/>
        </p:nvSpPr>
        <p:spPr>
          <a:xfrm>
            <a:off x="8092440" y="24231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1" name="Text 41"/>
          <p:cNvSpPr txBox="1"/>
          <p:nvPr/>
        </p:nvSpPr>
        <p:spPr>
          <a:xfrm>
            <a:off x="8092440" y="2423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200" dirty="0"/>
          </a:p>
        </p:txBody>
      </p:sp>
      <p:sp>
        <p:nvSpPr>
          <p:cNvPr id="42" name="Text 42"/>
          <p:cNvSpPr txBox="1"/>
          <p:nvPr/>
        </p:nvSpPr>
        <p:spPr>
          <a:xfrm>
            <a:off x="92354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code without running it</a:t>
            </a:r>
            <a:endParaRPr lang="en-US" sz="1200" dirty="0"/>
          </a:p>
        </p:txBody>
      </p:sp>
      <p:sp>
        <p:nvSpPr>
          <p:cNvPr id="43" name="Shape 43"/>
          <p:cNvSpPr/>
          <p:nvPr/>
        </p:nvSpPr>
        <p:spPr>
          <a:xfrm>
            <a:off x="8092440" y="2926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4" name="Text 44"/>
          <p:cNvSpPr txBox="1"/>
          <p:nvPr/>
        </p:nvSpPr>
        <p:spPr>
          <a:xfrm>
            <a:off x="809244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200" dirty="0"/>
          </a:p>
        </p:txBody>
      </p:sp>
      <p:sp>
        <p:nvSpPr>
          <p:cNvPr id="45" name="Text 45"/>
          <p:cNvSpPr txBox="1"/>
          <p:nvPr/>
        </p:nvSpPr>
        <p:spPr>
          <a:xfrm>
            <a:off x="92354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running app</a:t>
            </a:r>
            <a:endParaRPr lang="en-US" sz="1200" dirty="0"/>
          </a:p>
        </p:txBody>
      </p:sp>
      <p:sp>
        <p:nvSpPr>
          <p:cNvPr id="46" name="Shape 46"/>
          <p:cNvSpPr/>
          <p:nvPr/>
        </p:nvSpPr>
        <p:spPr>
          <a:xfrm>
            <a:off x="8092440" y="34290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7" name="Text 47"/>
          <p:cNvSpPr txBox="1"/>
          <p:nvPr/>
        </p:nvSpPr>
        <p:spPr>
          <a:xfrm>
            <a:off x="8092440" y="3429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IAST</a:t>
            </a:r>
            <a:endParaRPr lang="en-US" sz="1200" dirty="0"/>
          </a:p>
        </p:txBody>
      </p:sp>
      <p:sp>
        <p:nvSpPr>
          <p:cNvPr id="48" name="Text 48"/>
          <p:cNvSpPr txBox="1"/>
          <p:nvPr/>
        </p:nvSpPr>
        <p:spPr>
          <a:xfrm>
            <a:off x="923544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 dynamic, real time</a:t>
            </a:r>
            <a:endParaRPr lang="en-US" sz="1200" dirty="0"/>
          </a:p>
        </p:txBody>
      </p:sp>
      <p:sp>
        <p:nvSpPr>
          <p:cNvPr id="49" name="Shape 49"/>
          <p:cNvSpPr/>
          <p:nvPr/>
        </p:nvSpPr>
        <p:spPr>
          <a:xfrm>
            <a:off x="8092440" y="393192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0" name="Text 50"/>
          <p:cNvSpPr txBox="1"/>
          <p:nvPr/>
        </p:nvSpPr>
        <p:spPr>
          <a:xfrm>
            <a:off x="8092440" y="3931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200" dirty="0"/>
          </a:p>
        </p:txBody>
      </p:sp>
      <p:sp>
        <p:nvSpPr>
          <p:cNvPr id="51" name="Text 51"/>
          <p:cNvSpPr txBox="1"/>
          <p:nvPr/>
        </p:nvSpPr>
        <p:spPr>
          <a:xfrm>
            <a:off x="92354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library risks</a:t>
            </a:r>
            <a:endParaRPr lang="en-US" sz="1200" dirty="0"/>
          </a:p>
        </p:txBody>
      </p:sp>
      <p:sp>
        <p:nvSpPr>
          <p:cNvPr id="52" name="Shape 52"/>
          <p:cNvSpPr/>
          <p:nvPr/>
        </p:nvSpPr>
        <p:spPr>
          <a:xfrm>
            <a:off x="8092440" y="44348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3" name="Text 53"/>
          <p:cNvSpPr txBox="1"/>
          <p:nvPr/>
        </p:nvSpPr>
        <p:spPr>
          <a:xfrm>
            <a:off x="8092440" y="4434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</a:t>
            </a:r>
            <a:endParaRPr lang="en-US" sz="1200" dirty="0"/>
          </a:p>
        </p:txBody>
      </p:sp>
      <p:sp>
        <p:nvSpPr>
          <p:cNvPr id="54" name="Text 54"/>
          <p:cNvSpPr txBox="1"/>
          <p:nvPr/>
        </p:nvSpPr>
        <p:spPr>
          <a:xfrm>
            <a:off x="923544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simulate attacks</a:t>
            </a:r>
            <a:endParaRPr lang="en-US" sz="1200" dirty="0"/>
          </a:p>
        </p:txBody>
      </p:sp>
      <p:sp>
        <p:nvSpPr>
          <p:cNvPr id="55" name="Shape 55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3A3F"/>
          </a:solidFill>
          <a:ln/>
        </p:spPr>
      </p:sp>
      <p:sp>
        <p:nvSpPr>
          <p:cNvPr id="56" name="Text 56"/>
          <p:cNvSpPr txBox="1"/>
          <p:nvPr/>
        </p:nvSpPr>
        <p:spPr>
          <a:xfrm>
            <a:off x="868680" y="5394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→ Recon → Threat Model → Scan → Exploit → Risk → Report → Fix → Retest</a:t>
            </a:r>
            <a:endParaRPr lang="en-US" sz="1600" dirty="0"/>
          </a:p>
        </p:txBody>
      </p:sp>
      <p:sp>
        <p:nvSpPr>
          <p:cNvPr id="57" name="Text 57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phases of security testing, from defining scope to confirming issues are fixed.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2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&amp; Common Web Vulnerabilities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weaknesses in code before attackers do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57607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7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Vulnerabilities</a:t>
            </a:r>
            <a:endParaRPr lang="en-US" sz="1600" dirty="0"/>
          </a:p>
        </p:txBody>
      </p:sp>
      <p:sp>
        <p:nvSpPr>
          <p:cNvPr id="8" name="Shape 8"/>
          <p:cNvSpPr/>
          <p:nvPr/>
        </p:nvSpPr>
        <p:spPr>
          <a:xfrm>
            <a:off x="777240" y="24688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777240" y="2468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10" name="Text 10"/>
          <p:cNvSpPr txBox="1"/>
          <p:nvPr/>
        </p:nvSpPr>
        <p:spPr>
          <a:xfrm>
            <a:off x="2606040" y="24231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queries alter or read data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777240" y="29260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777240" y="29260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2606040" y="28803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JavaScript runs in another browser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777240" y="33832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5"/>
          <p:cNvSpPr txBox="1"/>
          <p:nvPr/>
        </p:nvSpPr>
        <p:spPr>
          <a:xfrm>
            <a:off x="777240" y="3383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INJECTION</a:t>
            </a:r>
            <a:endParaRPr lang="en-US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2606040" y="33375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Unsanitized input runs system commands</a:t>
            </a:r>
            <a:endParaRPr lang="en-US" sz="1200" dirty="0"/>
          </a:p>
        </p:txBody>
      </p:sp>
      <p:sp>
        <p:nvSpPr>
          <p:cNvPr id="17" name="Shape 17"/>
          <p:cNvSpPr/>
          <p:nvPr/>
        </p:nvSpPr>
        <p:spPr>
          <a:xfrm>
            <a:off x="777240" y="38404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777240" y="3840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AUTH</a:t>
            </a:r>
            <a:endParaRPr lang="en-US" sz="1100" dirty="0"/>
          </a:p>
        </p:txBody>
      </p:sp>
      <p:sp>
        <p:nvSpPr>
          <p:cNvPr id="19" name="Text 19"/>
          <p:cNvSpPr txBox="1"/>
          <p:nvPr/>
        </p:nvSpPr>
        <p:spPr>
          <a:xfrm>
            <a:off x="2606040" y="37947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login or poor session handling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777240" y="42976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21"/>
          <p:cNvSpPr txBox="1"/>
          <p:nvPr/>
        </p:nvSpPr>
        <p:spPr>
          <a:xfrm>
            <a:off x="777240" y="4297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</a:t>
            </a:r>
            <a:endParaRPr lang="en-US" sz="1100" dirty="0"/>
          </a:p>
        </p:txBody>
      </p:sp>
      <p:sp>
        <p:nvSpPr>
          <p:cNvPr id="22" name="Text 22"/>
          <p:cNvSpPr txBox="1"/>
          <p:nvPr/>
        </p:nvSpPr>
        <p:spPr>
          <a:xfrm>
            <a:off x="2606040" y="42519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corruption from excess input</a:t>
            </a:r>
            <a:endParaRPr lang="en-US" sz="1200" dirty="0"/>
          </a:p>
        </p:txBody>
      </p:sp>
      <p:sp>
        <p:nvSpPr>
          <p:cNvPr id="23" name="Shape 23"/>
          <p:cNvSpPr/>
          <p:nvPr/>
        </p:nvSpPr>
        <p:spPr>
          <a:xfrm>
            <a:off x="777240" y="47548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Text 24"/>
          <p:cNvSpPr txBox="1"/>
          <p:nvPr/>
        </p:nvSpPr>
        <p:spPr>
          <a:xfrm>
            <a:off x="777240" y="4754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2606040" y="47091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Tricks a logged-in user into an action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777240" y="52120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7"/>
          <p:cNvSpPr txBox="1"/>
          <p:nvPr/>
        </p:nvSpPr>
        <p:spPr>
          <a:xfrm>
            <a:off x="777240" y="52120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100" dirty="0"/>
          </a:p>
        </p:txBody>
      </p:sp>
      <p:sp>
        <p:nvSpPr>
          <p:cNvPr id="28" name="Text 28"/>
          <p:cNvSpPr txBox="1"/>
          <p:nvPr/>
        </p:nvSpPr>
        <p:spPr>
          <a:xfrm>
            <a:off x="2606040" y="51663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user data leaks in a breach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777240" y="56692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0" name="Text 30"/>
          <p:cNvSpPr txBox="1"/>
          <p:nvPr/>
        </p:nvSpPr>
        <p:spPr>
          <a:xfrm>
            <a:off x="777240" y="5669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PEN TEST</a:t>
            </a:r>
            <a:endParaRPr lang="en-US" sz="1100" dirty="0"/>
          </a:p>
        </p:txBody>
      </p:sp>
      <p:sp>
        <p:nvSpPr>
          <p:cNvPr id="31" name="Text 31"/>
          <p:cNvSpPr txBox="1"/>
          <p:nvPr/>
        </p:nvSpPr>
        <p:spPr>
          <a:xfrm>
            <a:off x="2606040" y="5623560"/>
            <a:ext cx="3520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chain flaws and logic bugs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6583680" y="1828800"/>
            <a:ext cx="505663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3" name="Text 33"/>
          <p:cNvSpPr txBox="1"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Levels</a:t>
            </a:r>
            <a:endParaRPr lang="en-US" sz="1600" dirty="0"/>
          </a:p>
        </p:txBody>
      </p:sp>
      <p:sp>
        <p:nvSpPr>
          <p:cNvPr id="34" name="Shape 34"/>
          <p:cNvSpPr/>
          <p:nvPr/>
        </p:nvSpPr>
        <p:spPr>
          <a:xfrm>
            <a:off x="6858000" y="24231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5" name="Text 35"/>
          <p:cNvSpPr txBox="1"/>
          <p:nvPr/>
        </p:nvSpPr>
        <p:spPr>
          <a:xfrm>
            <a:off x="6858000" y="2423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8412480" y="23774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goes straight into the query</a:t>
            </a:r>
            <a:endParaRPr lang="en-US" sz="1200" dirty="0"/>
          </a:p>
        </p:txBody>
      </p:sp>
      <p:sp>
        <p:nvSpPr>
          <p:cNvPr id="37" name="Shape 37"/>
          <p:cNvSpPr/>
          <p:nvPr/>
        </p:nvSpPr>
        <p:spPr>
          <a:xfrm>
            <a:off x="6858000" y="29260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8" name="Text 38"/>
          <p:cNvSpPr txBox="1"/>
          <p:nvPr/>
        </p:nvSpPr>
        <p:spPr>
          <a:xfrm>
            <a:off x="6858000" y="29260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8412480" y="28803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escaping special characters</a:t>
            </a:r>
            <a:endParaRPr lang="en-US" sz="1200" dirty="0"/>
          </a:p>
        </p:txBody>
      </p:sp>
      <p:sp>
        <p:nvSpPr>
          <p:cNvPr id="40" name="Shape 40"/>
          <p:cNvSpPr/>
          <p:nvPr/>
        </p:nvSpPr>
        <p:spPr>
          <a:xfrm>
            <a:off x="6858000" y="34290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1" name="Text 41"/>
          <p:cNvSpPr txBox="1"/>
          <p:nvPr/>
        </p:nvSpPr>
        <p:spPr>
          <a:xfrm>
            <a:off x="6858000" y="3429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2" name="Text 42"/>
          <p:cNvSpPr txBox="1"/>
          <p:nvPr/>
        </p:nvSpPr>
        <p:spPr>
          <a:xfrm>
            <a:off x="841248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split SQL and input</a:t>
            </a:r>
            <a:endParaRPr lang="en-US" sz="1200" dirty="0"/>
          </a:p>
        </p:txBody>
      </p:sp>
      <p:sp>
        <p:nvSpPr>
          <p:cNvPr id="43" name="Text 43"/>
          <p:cNvSpPr txBox="1"/>
          <p:nvPr/>
        </p:nvSpPr>
        <p:spPr>
          <a:xfrm>
            <a:off x="685800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XSS Types</a:t>
            </a:r>
            <a:endParaRPr lang="en-US" sz="1600" dirty="0"/>
          </a:p>
        </p:txBody>
      </p:sp>
      <p:sp>
        <p:nvSpPr>
          <p:cNvPr id="44" name="Shape 44"/>
          <p:cNvSpPr/>
          <p:nvPr/>
        </p:nvSpPr>
        <p:spPr>
          <a:xfrm>
            <a:off x="6858000" y="44348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5" name="Text 45"/>
          <p:cNvSpPr txBox="1"/>
          <p:nvPr/>
        </p:nvSpPr>
        <p:spPr>
          <a:xfrm>
            <a:off x="6858000" y="4434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200" dirty="0"/>
          </a:p>
        </p:txBody>
      </p:sp>
      <p:sp>
        <p:nvSpPr>
          <p:cNvPr id="46" name="Text 46"/>
          <p:cNvSpPr txBox="1"/>
          <p:nvPr/>
        </p:nvSpPr>
        <p:spPr>
          <a:xfrm>
            <a:off x="8412480" y="43891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saved on server, runs for viewers</a:t>
            </a:r>
            <a:endParaRPr lang="en-US" sz="1200" dirty="0"/>
          </a:p>
        </p:txBody>
      </p:sp>
      <p:sp>
        <p:nvSpPr>
          <p:cNvPr id="47" name="Shape 47"/>
          <p:cNvSpPr/>
          <p:nvPr/>
        </p:nvSpPr>
        <p:spPr>
          <a:xfrm>
            <a:off x="6858000" y="4937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8" name="Text 48"/>
          <p:cNvSpPr txBox="1"/>
          <p:nvPr/>
        </p:nvSpPr>
        <p:spPr>
          <a:xfrm>
            <a:off x="6858000" y="4937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</a:t>
            </a:r>
            <a:endParaRPr lang="en-US" sz="1200" dirty="0"/>
          </a:p>
        </p:txBody>
      </p:sp>
      <p:sp>
        <p:nvSpPr>
          <p:cNvPr id="49" name="Text 49"/>
          <p:cNvSpPr txBox="1"/>
          <p:nvPr/>
        </p:nvSpPr>
        <p:spPr>
          <a:xfrm>
            <a:off x="8412480" y="48920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echoed back in the response</a:t>
            </a:r>
            <a:endParaRPr lang="en-US" sz="1200" dirty="0"/>
          </a:p>
        </p:txBody>
      </p:sp>
      <p:sp>
        <p:nvSpPr>
          <p:cNvPr id="50" name="Shape 50"/>
          <p:cNvSpPr/>
          <p:nvPr/>
        </p:nvSpPr>
        <p:spPr>
          <a:xfrm>
            <a:off x="6858000" y="54406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1" name="Text 51"/>
          <p:cNvSpPr txBox="1"/>
          <p:nvPr/>
        </p:nvSpPr>
        <p:spPr>
          <a:xfrm>
            <a:off x="6858000" y="5440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DOM-BASED</a:t>
            </a:r>
            <a:endParaRPr lang="en-US" sz="1200" dirty="0"/>
          </a:p>
        </p:txBody>
      </p:sp>
      <p:sp>
        <p:nvSpPr>
          <p:cNvPr id="52" name="Text 52"/>
          <p:cNvSpPr txBox="1"/>
          <p:nvPr/>
        </p:nvSpPr>
        <p:spPr>
          <a:xfrm>
            <a:off x="8412480" y="53949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JS uses unsafe input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3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&amp; OWASP ZAP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traffic and scanning web apps for security flaws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31520" y="19659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7315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1188720" y="1938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Spider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73152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the app to find pages and endpoints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3886200" y="1828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4069080" y="196596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3"/>
          <p:cNvSpPr txBox="1"/>
          <p:nvPr/>
        </p:nvSpPr>
        <p:spPr>
          <a:xfrm>
            <a:off x="406908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4"/>
          <p:cNvSpPr txBox="1"/>
          <p:nvPr/>
        </p:nvSpPr>
        <p:spPr>
          <a:xfrm>
            <a:off x="4526280" y="1938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</a:t>
            </a:r>
            <a:endParaRPr lang="en-US" sz="1300" dirty="0"/>
          </a:p>
        </p:txBody>
      </p:sp>
      <p:sp>
        <p:nvSpPr>
          <p:cNvPr id="15" name="Text 15"/>
          <p:cNvSpPr txBox="1"/>
          <p:nvPr/>
        </p:nvSpPr>
        <p:spPr>
          <a:xfrm>
            <a:off x="406908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HTTP/HTTPS to inspect and modify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548640" y="2971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731520" y="31089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73152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1188720" y="3081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Intruder</a:t>
            </a:r>
            <a:endParaRPr lang="en-US" sz="1300" dirty="0"/>
          </a:p>
        </p:txBody>
      </p:sp>
      <p:sp>
        <p:nvSpPr>
          <p:cNvPr id="20" name="Text 20"/>
          <p:cNvSpPr txBox="1"/>
          <p:nvPr/>
        </p:nvSpPr>
        <p:spPr>
          <a:xfrm>
            <a:off x="73152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payloads: brute force, XSS, rate limit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3886200" y="2971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2"/>
          <p:cNvSpPr/>
          <p:nvPr/>
        </p:nvSpPr>
        <p:spPr>
          <a:xfrm>
            <a:off x="4069080" y="310896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3"/>
          <p:cNvSpPr txBox="1"/>
          <p:nvPr/>
        </p:nvSpPr>
        <p:spPr>
          <a:xfrm>
            <a:off x="406908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4526280" y="3081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Repeater</a:t>
            </a:r>
            <a:endParaRPr lang="en-US" sz="1300" dirty="0"/>
          </a:p>
        </p:txBody>
      </p:sp>
      <p:sp>
        <p:nvSpPr>
          <p:cNvPr id="25" name="Text 25"/>
          <p:cNvSpPr txBox="1"/>
          <p:nvPr/>
        </p:nvSpPr>
        <p:spPr>
          <a:xfrm>
            <a:off x="406908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and resend requests, study responses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548640" y="4114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7"/>
          <p:cNvSpPr/>
          <p:nvPr/>
        </p:nvSpPr>
        <p:spPr>
          <a:xfrm>
            <a:off x="731520" y="42519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8"/>
          <p:cNvSpPr txBox="1"/>
          <p:nvPr/>
        </p:nvSpPr>
        <p:spPr>
          <a:xfrm>
            <a:off x="73152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1188720" y="4224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Sequencer</a:t>
            </a:r>
            <a:endParaRPr lang="en-US" sz="1300" dirty="0"/>
          </a:p>
        </p:txBody>
      </p:sp>
      <p:sp>
        <p:nvSpPr>
          <p:cNvPr id="30" name="Text 30"/>
          <p:cNvSpPr txBox="1"/>
          <p:nvPr/>
        </p:nvSpPr>
        <p:spPr>
          <a:xfrm>
            <a:off x="731520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randomness of session tokens</a:t>
            </a:r>
            <a:endParaRPr lang="en-US" sz="1200" dirty="0"/>
          </a:p>
        </p:txBody>
      </p:sp>
      <p:sp>
        <p:nvSpPr>
          <p:cNvPr id="31" name="Shape 31"/>
          <p:cNvSpPr/>
          <p:nvPr/>
        </p:nvSpPr>
        <p:spPr>
          <a:xfrm>
            <a:off x="3886200" y="4114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2"/>
          <p:cNvSpPr/>
          <p:nvPr/>
        </p:nvSpPr>
        <p:spPr>
          <a:xfrm>
            <a:off x="4069080" y="425196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3"/>
          <p:cNvSpPr txBox="1"/>
          <p:nvPr/>
        </p:nvSpPr>
        <p:spPr>
          <a:xfrm>
            <a:off x="406908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4"/>
          <p:cNvSpPr txBox="1"/>
          <p:nvPr/>
        </p:nvSpPr>
        <p:spPr>
          <a:xfrm>
            <a:off x="4526280" y="4224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</a:t>
            </a:r>
            <a:endParaRPr lang="en-US" sz="1300" dirty="0"/>
          </a:p>
        </p:txBody>
      </p:sp>
      <p:sp>
        <p:nvSpPr>
          <p:cNvPr id="35" name="Text 35"/>
          <p:cNvSpPr txBox="1"/>
          <p:nvPr/>
        </p:nvSpPr>
        <p:spPr>
          <a:xfrm>
            <a:off x="4069080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and decodes data formats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548640" y="5257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7"/>
          <p:cNvSpPr/>
          <p:nvPr/>
        </p:nvSpPr>
        <p:spPr>
          <a:xfrm>
            <a:off x="731520" y="53949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8"/>
          <p:cNvSpPr txBox="1"/>
          <p:nvPr/>
        </p:nvSpPr>
        <p:spPr>
          <a:xfrm>
            <a:off x="73152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1188720" y="5367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Extender</a:t>
            </a:r>
            <a:endParaRPr lang="en-US" sz="1300" dirty="0"/>
          </a:p>
        </p:txBody>
      </p:sp>
      <p:sp>
        <p:nvSpPr>
          <p:cNvPr id="40" name="Text 40"/>
          <p:cNvSpPr txBox="1"/>
          <p:nvPr/>
        </p:nvSpPr>
        <p:spPr>
          <a:xfrm>
            <a:off x="731520" y="5806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BApps add features and customization</a:t>
            </a:r>
            <a:endParaRPr lang="en-US" sz="1200" dirty="0"/>
          </a:p>
        </p:txBody>
      </p:sp>
      <p:sp>
        <p:nvSpPr>
          <p:cNvPr id="41" name="Shape 41"/>
          <p:cNvSpPr/>
          <p:nvPr/>
        </p:nvSpPr>
        <p:spPr>
          <a:xfrm>
            <a:off x="3886200" y="5257800"/>
            <a:ext cx="3200400" cy="96012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42"/>
          <p:cNvSpPr/>
          <p:nvPr/>
        </p:nvSpPr>
        <p:spPr>
          <a:xfrm>
            <a:off x="4069080" y="539496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43"/>
          <p:cNvSpPr txBox="1"/>
          <p:nvPr/>
        </p:nvSpPr>
        <p:spPr>
          <a:xfrm>
            <a:off x="40690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4"/>
          <p:cNvSpPr txBox="1"/>
          <p:nvPr/>
        </p:nvSpPr>
        <p:spPr>
          <a:xfrm>
            <a:off x="4526280" y="5367528"/>
            <a:ext cx="2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</a:t>
            </a:r>
            <a:endParaRPr lang="en-US" sz="1300" dirty="0"/>
          </a:p>
        </p:txBody>
      </p:sp>
      <p:sp>
        <p:nvSpPr>
          <p:cNvPr id="45" name="Text 45"/>
          <p:cNvSpPr txBox="1"/>
          <p:nvPr/>
        </p:nvSpPr>
        <p:spPr>
          <a:xfrm>
            <a:off x="4069080" y="5806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Auto-scans for SQLi and XSS (Pro / Enterprise)</a:t>
            </a:r>
            <a:endParaRPr lang="en-US" sz="1200" dirty="0"/>
          </a:p>
        </p:txBody>
      </p:sp>
      <p:sp>
        <p:nvSpPr>
          <p:cNvPr id="46" name="Shape 46"/>
          <p:cNvSpPr/>
          <p:nvPr/>
        </p:nvSpPr>
        <p:spPr>
          <a:xfrm>
            <a:off x="7269480" y="1828800"/>
            <a:ext cx="4370832" cy="4389120"/>
          </a:xfrm>
          <a:prstGeom prst="roundRect">
            <a:avLst>
              <a:gd name="adj" fmla="val 2611"/>
            </a:avLst>
          </a:prstGeom>
          <a:solidFill>
            <a:srgbClr val="0B3A3F"/>
          </a:solidFill>
          <a:ln/>
        </p:spPr>
      </p:sp>
      <p:sp>
        <p:nvSpPr>
          <p:cNvPr id="47" name="Text 47"/>
          <p:cNvSpPr txBox="1"/>
          <p:nvPr/>
        </p:nvSpPr>
        <p:spPr>
          <a:xfrm>
            <a:off x="7498080" y="2011680"/>
            <a:ext cx="3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</a:t>
            </a:r>
            <a:endParaRPr lang="en-US" sz="1600" dirty="0"/>
          </a:p>
        </p:txBody>
      </p:sp>
      <p:sp>
        <p:nvSpPr>
          <p:cNvPr id="48" name="Text 48"/>
          <p:cNvSpPr txBox="1"/>
          <p:nvPr/>
        </p:nvSpPr>
        <p:spPr>
          <a:xfrm>
            <a:off x="7498080" y="2423160"/>
            <a:ext cx="39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 that intercepts and analyzes browser–server traffic</a:t>
            </a:r>
            <a:endParaRPr lang="en-US" sz="1200" dirty="0"/>
          </a:p>
        </p:txBody>
      </p:sp>
      <p:sp>
        <p:nvSpPr>
          <p:cNvPr id="49" name="Shape 49"/>
          <p:cNvSpPr/>
          <p:nvPr/>
        </p:nvSpPr>
        <p:spPr>
          <a:xfrm>
            <a:off x="7498080" y="32004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0" name="Text 50"/>
          <p:cNvSpPr txBox="1"/>
          <p:nvPr/>
        </p:nvSpPr>
        <p:spPr>
          <a:xfrm>
            <a:off x="7498080" y="3200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SERVER</a:t>
            </a:r>
            <a:endParaRPr lang="en-US" sz="1100" dirty="0"/>
          </a:p>
        </p:txBody>
      </p:sp>
      <p:sp>
        <p:nvSpPr>
          <p:cNvPr id="51" name="Text 51"/>
          <p:cNvSpPr txBox="1"/>
          <p:nvPr/>
        </p:nvSpPr>
        <p:spPr>
          <a:xfrm>
            <a:off x="9100000" y="3154680"/>
            <a:ext cx="23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Intermediary; requests can be inspected</a:t>
            </a:r>
            <a:endParaRPr lang="en-US" sz="1200" dirty="0"/>
          </a:p>
        </p:txBody>
      </p:sp>
      <p:sp>
        <p:nvSpPr>
          <p:cNvPr id="52" name="Shape 52"/>
          <p:cNvSpPr/>
          <p:nvPr/>
        </p:nvSpPr>
        <p:spPr>
          <a:xfrm>
            <a:off x="7498080" y="3931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3" name="Text 53"/>
          <p:cNvSpPr txBox="1"/>
          <p:nvPr/>
        </p:nvSpPr>
        <p:spPr>
          <a:xfrm>
            <a:off x="7498080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</a:t>
            </a:r>
            <a:endParaRPr lang="en-US" sz="1200" dirty="0"/>
          </a:p>
        </p:txBody>
      </p:sp>
      <p:sp>
        <p:nvSpPr>
          <p:cNvPr id="54" name="Text 54"/>
          <p:cNvSpPr txBox="1"/>
          <p:nvPr/>
        </p:nvSpPr>
        <p:spPr>
          <a:xfrm>
            <a:off x="9100000" y="3886200"/>
            <a:ext cx="23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pages, links and forms</a:t>
            </a:r>
            <a:endParaRPr lang="en-US" sz="1200" dirty="0"/>
          </a:p>
        </p:txBody>
      </p:sp>
      <p:sp>
        <p:nvSpPr>
          <p:cNvPr id="55" name="Shape 55"/>
          <p:cNvSpPr/>
          <p:nvPr/>
        </p:nvSpPr>
        <p:spPr>
          <a:xfrm>
            <a:off x="7498080" y="46634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6" name="Text 56"/>
          <p:cNvSpPr txBox="1"/>
          <p:nvPr/>
        </p:nvSpPr>
        <p:spPr>
          <a:xfrm>
            <a:off x="7498080" y="46634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SCAN</a:t>
            </a:r>
            <a:endParaRPr lang="en-US" sz="1100" dirty="0"/>
          </a:p>
        </p:txBody>
      </p:sp>
      <p:sp>
        <p:nvSpPr>
          <p:cNvPr id="57" name="Text 57"/>
          <p:cNvSpPr txBox="1"/>
          <p:nvPr/>
        </p:nvSpPr>
        <p:spPr>
          <a:xfrm>
            <a:off x="9100000" y="4617720"/>
            <a:ext cx="23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traffic, sends no attacks</a:t>
            </a:r>
            <a:endParaRPr lang="en-US" sz="1200" dirty="0"/>
          </a:p>
        </p:txBody>
      </p:sp>
      <p:sp>
        <p:nvSpPr>
          <p:cNvPr id="58" name="Shape 58"/>
          <p:cNvSpPr/>
          <p:nvPr/>
        </p:nvSpPr>
        <p:spPr>
          <a:xfrm>
            <a:off x="7498080" y="53949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9" name="Text 59"/>
          <p:cNvSpPr txBox="1"/>
          <p:nvPr/>
        </p:nvSpPr>
        <p:spPr>
          <a:xfrm>
            <a:off x="7498080" y="5394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</a:t>
            </a:r>
            <a:endParaRPr lang="en-US" sz="1200" dirty="0"/>
          </a:p>
        </p:txBody>
      </p:sp>
      <p:sp>
        <p:nvSpPr>
          <p:cNvPr id="60" name="Text 60"/>
          <p:cNvSpPr txBox="1"/>
          <p:nvPr/>
        </p:nvSpPr>
        <p:spPr>
          <a:xfrm>
            <a:off x="9100000" y="5349240"/>
            <a:ext cx="23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requests to an authorized target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4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 &amp; JMeter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how an application performs under expected and peak workloads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57607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7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Performance Testing</a:t>
            </a:r>
            <a:endParaRPr lang="en-US" sz="1600" dirty="0"/>
          </a:p>
        </p:txBody>
      </p:sp>
      <p:sp>
        <p:nvSpPr>
          <p:cNvPr id="8" name="Shape 8"/>
          <p:cNvSpPr/>
          <p:nvPr/>
        </p:nvSpPr>
        <p:spPr>
          <a:xfrm>
            <a:off x="777240" y="24688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777240" y="2468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2468880" y="2423160"/>
            <a:ext cx="37033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user load; finds bottlenecks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777240" y="29900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777240" y="2990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2468880" y="2944368"/>
            <a:ext cx="37033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limits; breaking points, recovery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777240" y="351129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5"/>
          <p:cNvSpPr txBox="1"/>
          <p:nvPr/>
        </p:nvSpPr>
        <p:spPr>
          <a:xfrm>
            <a:off x="777240" y="35112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2468880" y="3465576"/>
            <a:ext cx="37033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traffic surges; instability</a:t>
            </a:r>
            <a:endParaRPr lang="en-US" sz="1200" dirty="0"/>
          </a:p>
        </p:txBody>
      </p:sp>
      <p:sp>
        <p:nvSpPr>
          <p:cNvPr id="17" name="Shape 17"/>
          <p:cNvSpPr/>
          <p:nvPr/>
        </p:nvSpPr>
        <p:spPr>
          <a:xfrm>
            <a:off x="777240" y="403250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777240" y="40325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2468880" y="3986784"/>
            <a:ext cx="37033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continuous load; memory leaks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777240" y="455371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21"/>
          <p:cNvSpPr txBox="1"/>
          <p:nvPr/>
        </p:nvSpPr>
        <p:spPr>
          <a:xfrm>
            <a:off x="777240" y="4553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2468880" y="4507992"/>
            <a:ext cx="37033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load over time; degradation</a:t>
            </a:r>
            <a:endParaRPr lang="en-US" sz="1200" dirty="0"/>
          </a:p>
        </p:txBody>
      </p:sp>
      <p:sp>
        <p:nvSpPr>
          <p:cNvPr id="23" name="Shape 23"/>
          <p:cNvSpPr/>
          <p:nvPr/>
        </p:nvSpPr>
        <p:spPr>
          <a:xfrm>
            <a:off x="777240" y="5074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Text 24"/>
          <p:cNvSpPr txBox="1"/>
          <p:nvPr/>
        </p:nvSpPr>
        <p:spPr>
          <a:xfrm>
            <a:off x="777240" y="5074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2468880" y="5029200"/>
            <a:ext cx="37033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database volume; scale limits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777240" y="559612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7"/>
          <p:cNvSpPr txBox="1"/>
          <p:nvPr/>
        </p:nvSpPr>
        <p:spPr>
          <a:xfrm>
            <a:off x="777240" y="55961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2468880" y="5550408"/>
            <a:ext cx="37033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up or down as load changes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6583680" y="1828800"/>
            <a:ext cx="505663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0" name="Text 30"/>
          <p:cNvSpPr txBox="1"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JMeter Elements</a:t>
            </a:r>
            <a:endParaRPr lang="en-US" sz="1600" dirty="0"/>
          </a:p>
        </p:txBody>
      </p:sp>
      <p:sp>
        <p:nvSpPr>
          <p:cNvPr id="31" name="Text 31"/>
          <p:cNvSpPr txBox="1"/>
          <p:nvPr/>
        </p:nvSpPr>
        <p:spPr>
          <a:xfrm>
            <a:off x="6858000" y="2423160"/>
            <a:ext cx="42976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 simulating many virtual users, with graphs and detailed metrics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6858000" y="32004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3" name="Text 33"/>
          <p:cNvSpPr txBox="1"/>
          <p:nvPr/>
        </p:nvSpPr>
        <p:spPr>
          <a:xfrm>
            <a:off x="6858000" y="3200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</a:t>
            </a:r>
            <a:endParaRPr lang="en-US" sz="1100" dirty="0"/>
          </a:p>
        </p:txBody>
      </p:sp>
      <p:sp>
        <p:nvSpPr>
          <p:cNvPr id="34" name="Text 34"/>
          <p:cNvSpPr txBox="1"/>
          <p:nvPr/>
        </p:nvSpPr>
        <p:spPr>
          <a:xfrm>
            <a:off x="8595360" y="3154680"/>
            <a:ext cx="2834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Threads; each one is a user</a:t>
            </a:r>
            <a:endParaRPr lang="en-US" sz="1200" dirty="0"/>
          </a:p>
        </p:txBody>
      </p:sp>
      <p:sp>
        <p:nvSpPr>
          <p:cNvPr id="35" name="Shape 35"/>
          <p:cNvSpPr/>
          <p:nvPr/>
        </p:nvSpPr>
        <p:spPr>
          <a:xfrm>
            <a:off x="6858000" y="38404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6" name="Text 36"/>
          <p:cNvSpPr txBox="1"/>
          <p:nvPr/>
        </p:nvSpPr>
        <p:spPr>
          <a:xfrm>
            <a:off x="6858000" y="38404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SAMPLERS</a:t>
            </a:r>
            <a:endParaRPr lang="en-US" sz="1200" dirty="0"/>
          </a:p>
        </p:txBody>
      </p:sp>
      <p:sp>
        <p:nvSpPr>
          <p:cNvPr id="37" name="Text 37"/>
          <p:cNvSpPr txBox="1"/>
          <p:nvPr/>
        </p:nvSpPr>
        <p:spPr>
          <a:xfrm>
            <a:off x="8595360" y="3794760"/>
            <a:ext cx="2834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sent, e.g. HTTP, FTP</a:t>
            </a:r>
            <a:endParaRPr lang="en-US" sz="1200" dirty="0"/>
          </a:p>
        </p:txBody>
      </p:sp>
      <p:sp>
        <p:nvSpPr>
          <p:cNvPr id="38" name="Shape 38"/>
          <p:cNvSpPr/>
          <p:nvPr/>
        </p:nvSpPr>
        <p:spPr>
          <a:xfrm>
            <a:off x="6858000" y="44805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9" name="Text 39"/>
          <p:cNvSpPr txBox="1"/>
          <p:nvPr/>
        </p:nvSpPr>
        <p:spPr>
          <a:xfrm>
            <a:off x="6858000" y="4480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</a:t>
            </a:r>
            <a:endParaRPr lang="en-US" sz="1200" dirty="0"/>
          </a:p>
        </p:txBody>
      </p:sp>
      <p:sp>
        <p:nvSpPr>
          <p:cNvPr id="40" name="Text 40"/>
          <p:cNvSpPr txBox="1"/>
          <p:nvPr/>
        </p:nvSpPr>
        <p:spPr>
          <a:xfrm>
            <a:off x="8595360" y="4434840"/>
            <a:ext cx="2834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as graphs, tables, logs</a:t>
            </a:r>
            <a:endParaRPr lang="en-US" sz="1200" dirty="0"/>
          </a:p>
        </p:txBody>
      </p:sp>
      <p:sp>
        <p:nvSpPr>
          <p:cNvPr id="41" name="Shape 41"/>
          <p:cNvSpPr/>
          <p:nvPr/>
        </p:nvSpPr>
        <p:spPr>
          <a:xfrm>
            <a:off x="6858000" y="51206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2" name="Text 42"/>
          <p:cNvSpPr txBox="1"/>
          <p:nvPr/>
        </p:nvSpPr>
        <p:spPr>
          <a:xfrm>
            <a:off x="6858000" y="5120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43" name="Text 43"/>
          <p:cNvSpPr txBox="1"/>
          <p:nvPr/>
        </p:nvSpPr>
        <p:spPr>
          <a:xfrm>
            <a:off x="8595360" y="5074920"/>
            <a:ext cx="2834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and variables: URL, data sets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5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 Revision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testing, technical and security topics from the course so far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77724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Foundations</a:t>
            </a:r>
            <a:endParaRPr lang="en-US" sz="1100" dirty="0"/>
          </a:p>
        </p:txBody>
      </p:sp>
      <p:sp>
        <p:nvSpPr>
          <p:cNvPr id="9" name="Text 9"/>
          <p:cNvSpPr txBox="1"/>
          <p:nvPr/>
        </p:nvSpPr>
        <p:spPr>
          <a:xfrm>
            <a:off x="777240" y="2560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principles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and sprint cycle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FRD, BR and FR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their types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/ statement coverage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charter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4315968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4544568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4544568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&amp; Tech</a:t>
            </a:r>
            <a:endParaRPr lang="en-US" sz="1100" dirty="0"/>
          </a:p>
        </p:txBody>
      </p:sp>
      <p:sp>
        <p:nvSpPr>
          <p:cNvPr id="13" name="Text 13"/>
          <p:cNvSpPr txBox="1"/>
          <p:nvPr/>
        </p:nvSpPr>
        <p:spPr>
          <a:xfrm>
            <a:off x="4544568" y="2560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smoke, sanity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testing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and its categories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components and types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and JWT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ACID; DDL, DML, DQL, DCL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8083296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8311896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6"/>
          <p:cNvSpPr txBox="1"/>
          <p:nvPr/>
        </p:nvSpPr>
        <p:spPr>
          <a:xfrm>
            <a:off x="8311896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Security</a:t>
            </a:r>
            <a:endParaRPr lang="en-US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8311896" y="2560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Python logging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automated security tests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Burp, ZAP, proxy, scans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stress, soak, spike</a:t>
            </a:r>
            <a:endParaRPr lang="en-US" sz="1300" dirty="0"/>
          </a:p>
        </p:txBody>
      </p:sp>
      <p:sp>
        <p:nvSpPr>
          <p:cNvPr id="18" name="Shape 18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3A3F"/>
          </a:solidFill>
          <a:ln/>
        </p:spPr>
      </p:sp>
      <p:sp>
        <p:nvSpPr>
          <p:cNvPr id="19" name="Text 19"/>
          <p:cNvSpPr txBox="1"/>
          <p:nvPr/>
        </p:nvSpPr>
        <p:spPr>
          <a:xfrm>
            <a:off x="868680" y="5440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 →  Tools  →  Security</a:t>
            </a:r>
            <a:endParaRPr lang="en-US" sz="2000" dirty="0"/>
          </a:p>
        </p:txBody>
      </p:sp>
      <p:sp>
        <p:nvSpPr>
          <p:cNvPr id="20" name="Text 20"/>
          <p:cNvSpPr txBox="1"/>
          <p:nvPr/>
        </p:nvSpPr>
        <p:spPr>
          <a:xfrm>
            <a:off x="722376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22376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new topics</a:t>
            </a:r>
            <a:endParaRPr lang="en-US" sz="1100" dirty="0"/>
          </a:p>
        </p:txBody>
      </p:sp>
      <p:sp>
        <p:nvSpPr>
          <p:cNvPr id="22" name="Text 22"/>
          <p:cNvSpPr txBox="1"/>
          <p:nvPr/>
        </p:nvSpPr>
        <p:spPr>
          <a:xfrm>
            <a:off x="868680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3" name="Text 23"/>
          <p:cNvSpPr txBox="1"/>
          <p:nvPr/>
        </p:nvSpPr>
        <p:spPr>
          <a:xfrm>
            <a:off x="868680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risks</a:t>
            </a:r>
            <a:endParaRPr lang="en-US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1014984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25" name="Text 25"/>
          <p:cNvSpPr txBox="1"/>
          <p:nvPr/>
        </p:nvSpPr>
        <p:spPr>
          <a:xfrm>
            <a:off x="1014984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phases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Internship Week 4 Summary</dc:title>
  <dc:subject>PptxGenJS Presentation</dc:subject>
  <dc:creator>Shekhar Singh Rawal</dc:creator>
  <cp:lastModifiedBy>Shekhar Singh Rawal</cp:lastModifiedBy>
  <cp:revision>1</cp:revision>
  <dcterms:created xsi:type="dcterms:W3CDTF">2026-10-04T03:37:54Z</dcterms:created>
  <dcterms:modified xsi:type="dcterms:W3CDTF">2026-10-04T03:37:54Z</dcterms:modified>
</cp:coreProperties>
</file>