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12"/>
    <p:sldId id="262" r:id="rId13"/>
    <p:sldId id="263" r:id="rId14"/>
    <p:sldId id="264" r:id="rId15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  <Relationship Id="rId12" Type="http://schemas.openxmlformats.org/officeDocument/2006/relationships/slide" Target="slides/slide6.xml"/>
  <Relationship Id="rId13" Type="http://schemas.openxmlformats.org/officeDocument/2006/relationships/slide" Target="slides/slide7.xml"/>
  <Relationship Id="rId14" Type="http://schemas.openxmlformats.org/officeDocument/2006/relationships/slide" Target="slides/slide8.xml"/>
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572000" cy="45720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291840" cy="329184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INTERNSHIP  ·  WEEK 4 &amp; 5 PROGRESS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737360"/>
            <a:ext cx="9601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Databases, SQL &amp; Automation: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Beyond the Screen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recap of everything covered in Weeks 4 and 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394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Shekhar Singh Rawal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5120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120640" y="5394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22 – Oct 5, 2026  ·  Weeks 4 &amp; 5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·  SEP 22,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Testing Fundamentals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that data is stored correctly, and that the rules protecting it actually hold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993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Atomicity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505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or nothing — no money deducted without being credited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566160" y="182880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49040" y="1993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7490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2062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749040" y="24505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valid — a foreign key can’t point to a missing employee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461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1071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8679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transactions don’t interfere with each other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566160" y="32461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49040" y="341071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7490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20624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Durability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8679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Committed data survives a system restart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54880"/>
            <a:ext cx="5852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93776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93776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691640" y="493776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structure: CREATE, ALTER, DROP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31520" y="5440680"/>
            <a:ext cx="8229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731520" y="5440680"/>
            <a:ext cx="822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691640" y="544068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data: INSERT, UPDATE, DELETE, SELECT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675120" y="1828800"/>
            <a:ext cx="496519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9494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= Business Rules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6949440" y="256032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49440" y="25603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8823960" y="2514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employee / department has a unique ID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949440" y="329184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49440" y="32918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8823960" y="3246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can never be empty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949440" y="402336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0" y="402336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8823960" y="39776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department can only reference an existing employee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949440" y="475488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949440" y="475488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8823960" y="47091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Stops duplicates, e.g. the same email twice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949440" y="557784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Practical: related EMPLOYEE and DEPARTMENT tables built and verified with SELECT.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 ·  SEP 23,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 Fundamentals &amp; Data Validation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queries to prove that stored data matches the expected business rules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7607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Queries for QA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560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331720" y="25603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records are stored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08152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08152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331720" y="308152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specific record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7240" y="360273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360273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331720" y="360273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sorting rules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12394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2394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2331720" y="412394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paged results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77240" y="46451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6451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2331720" y="464515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new data is saved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51663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1663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331720" y="5166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changes are applied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77240" y="5687568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5687568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2331720" y="568756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records are removed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583680" y="1828800"/>
            <a:ext cx="505663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Types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858000" y="2560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412480" y="24871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records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858000" y="3273552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858000" y="3273552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412480" y="32004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left + matches, e.g. employees with no department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858000" y="3986784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0" y="3986784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412480" y="391363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right + matches, e.g. departments with no employee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858000" y="4700016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858000" y="470001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OUTER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8412480" y="4626864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matched where possible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858000" y="544068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0F4A50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6995160" y="54681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Rule: every employee has a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* FROM Employee WHERE name IS NULL;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SQL &amp; CTEs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Combining, grouping, filtering and reusing query results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011680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UNION vs UNION ALL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24871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UNION removes duplicate rows; UNION ALL keeps them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51960" y="1828800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01168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3484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1984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BY &amp; HAVING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2487168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makes the groups; HAVING filters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10128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3493008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152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465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EXISTS, ANY, ALL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96849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EXISTS: any row? ANY: at least one. ALL: every one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251960" y="3310128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434840" y="349300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434840" y="3493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892040" y="3465576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 INTO vs INSERT INTO SELECT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396849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+ copy a table vs copy into an existing 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4791456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974336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88720" y="4946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&amp; COALESCE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54498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else-if logic in SQL; replace NULL with a value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51960" y="4791456"/>
            <a:ext cx="3520440" cy="1344168"/>
          </a:xfrm>
          <a:prstGeom prst="roundRect">
            <a:avLst>
              <a:gd name="adj" fmla="val 680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434840" y="4974336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434840" y="497433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4892040" y="4946904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Subquery, CTE &amp; Procedure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434840" y="544982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 a query; WITH temp result; saved reusable commands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138160" y="1828800"/>
            <a:ext cx="3502152" cy="4306824"/>
          </a:xfrm>
          <a:prstGeom prst="roundRect">
            <a:avLst>
              <a:gd name="adj" fmla="val 2611"/>
            </a:avLst>
          </a:prstGeom>
          <a:solidFill>
            <a:srgbClr val="0B3A3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366760" y="20116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Practical Highlights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2560320"/>
            <a:ext cx="3108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Second-highest salary using ORDER BY + LIMIT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AVG, MIN and MAX on the Teacher table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and LEFT JOIN across Students and Department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count per department with GROUP BY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mapped fee status for 30 student records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 ·  SEP 29, 2026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Python, Playwright &amp; Git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foundations of test automation and version control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and data types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else and modulo %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and while loops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and functions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315968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44568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44568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44568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pages, click, type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and XPath locators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Assertions: toBe, toContain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toHaveTitle, toHaveURL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083296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11896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11896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11896" y="2651760"/>
            <a:ext cx="3108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 → add → commit → push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pull, clone and log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code versions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.gitignore skips unneeded files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3A3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68680" y="5440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  →  Expected Result  →  Assertion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722376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014984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25" name="Text 23"/>
          <p:cNvSpPr txBox="1"/>
          <p:nvPr/>
        </p:nvSpPr>
        <p:spPr>
          <a:xfrm>
            <a:off x="1014984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skipped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1  ·  SEP 30, 2026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OOP &amp; Git Branching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automation code, and safe teamwork on shared code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77724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OOP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777240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vs local variable scope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 and constructors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__init__() sets data; __new__() creates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Inheritance: BasePage → page classes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4315968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4544568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4544568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Pillars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4544568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same method, different action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Encapsulation: public, _protected, __private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Abstraction: hide the complex details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/ except / else / finally</a:t>
            </a:r>
            <a:endParaRPr lang="en-US" sz="1400" dirty="0"/>
          </a:p>
        </p:txBody>
      </p:sp>
      <p:sp>
        <p:nvSpPr>
          <p:cNvPr id="14" name="Shape 14"/>
          <p:cNvSpPr/>
          <p:nvPr/>
        </p:nvSpPr>
        <p:spPr>
          <a:xfrm>
            <a:off x="8083296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8311896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6"/>
          <p:cNvSpPr txBox="1"/>
          <p:nvPr/>
        </p:nvSpPr>
        <p:spPr>
          <a:xfrm>
            <a:off x="8311896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Branching</a:t>
            </a:r>
            <a:endParaRPr lang="en-US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8311896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branch per task: feature-login, bugfix-header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combines branches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conflict: same line changed twice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 = review before merge</a:t>
            </a:r>
            <a:endParaRPr lang="en-US" sz="1400" dirty="0"/>
          </a:p>
        </p:txBody>
      </p:sp>
      <p:sp>
        <p:nvSpPr>
          <p:cNvPr id="18" name="Shape 18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3A3F"/>
          </a:solidFill>
          <a:ln/>
        </p:spPr>
      </p:sp>
      <p:sp>
        <p:nvSpPr>
          <p:cNvPr id="19" name="Text 19"/>
          <p:cNvSpPr txBox="1"/>
          <p:nvPr/>
        </p:nvSpPr>
        <p:spPr>
          <a:xfrm>
            <a:off x="868680" y="539496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Branch  →  Code  →  Commit  →  Push  →  Pull Request  →  Review  →  Merge</a:t>
            </a:r>
            <a:endParaRPr lang="en-US" sz="2000" dirty="0"/>
          </a:p>
        </p:txBody>
      </p:sp>
      <p:sp>
        <p:nvSpPr>
          <p:cNvPr id="20" name="Text 20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used as a learning aid: refactored Playwright login steps into a LoginPage class with a reusable login() method.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2–3  ·  OCT 1–3, 2026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Pytest &amp; Allure Reporting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automated checks into organized, readable test reports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31520" y="1993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73152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118872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Assertions</a:t>
            </a:r>
            <a:endParaRPr lang="en-US" sz="1500" dirty="0"/>
          </a:p>
        </p:txBody>
      </p:sp>
      <p:sp>
        <p:nvSpPr>
          <p:cNvPr id="10" name="Text 10"/>
          <p:cNvSpPr txBox="1"/>
          <p:nvPr/>
        </p:nvSpPr>
        <p:spPr>
          <a:xfrm>
            <a:off x="731520" y="24505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actual result with the expected result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3566160" y="182880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2"/>
          <p:cNvSpPr/>
          <p:nvPr/>
        </p:nvSpPr>
        <p:spPr>
          <a:xfrm>
            <a:off x="3749040" y="199339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3"/>
          <p:cNvSpPr txBox="1"/>
          <p:nvPr/>
        </p:nvSpPr>
        <p:spPr>
          <a:xfrm>
            <a:off x="3749040" y="1993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4"/>
          <p:cNvSpPr txBox="1"/>
          <p:nvPr/>
        </p:nvSpPr>
        <p:spPr>
          <a:xfrm>
            <a:off x="420624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Parameterization</a:t>
            </a:r>
            <a:endParaRPr lang="en-US" sz="1500" dirty="0"/>
          </a:p>
        </p:txBody>
      </p:sp>
      <p:sp>
        <p:nvSpPr>
          <p:cNvPr id="15" name="Text 15"/>
          <p:cNvSpPr txBox="1"/>
          <p:nvPr/>
        </p:nvSpPr>
        <p:spPr>
          <a:xfrm>
            <a:off x="3749040" y="245059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test run with many inputs, e.g. balance 2000, 3000, 5000</a:t>
            </a:r>
            <a:endParaRPr lang="en-US" sz="1200" dirty="0"/>
          </a:p>
        </p:txBody>
      </p:sp>
      <p:sp>
        <p:nvSpPr>
          <p:cNvPr id="16" name="Shape 16"/>
          <p:cNvSpPr/>
          <p:nvPr/>
        </p:nvSpPr>
        <p:spPr>
          <a:xfrm>
            <a:off x="548640" y="32461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7"/>
          <p:cNvSpPr/>
          <p:nvPr/>
        </p:nvSpPr>
        <p:spPr>
          <a:xfrm>
            <a:off x="731520" y="341071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73152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118872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Fixtures</a:t>
            </a:r>
            <a:endParaRPr lang="en-US" sz="1500" dirty="0"/>
          </a:p>
        </p:txBody>
      </p:sp>
      <p:sp>
        <p:nvSpPr>
          <p:cNvPr id="20" name="Text 20"/>
          <p:cNvSpPr txBox="1"/>
          <p:nvPr/>
        </p:nvSpPr>
        <p:spPr>
          <a:xfrm>
            <a:off x="731520" y="38679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setup and test data for tests</a:t>
            </a:r>
            <a:endParaRPr lang="en-US" sz="1200" dirty="0"/>
          </a:p>
        </p:txBody>
      </p:sp>
      <p:sp>
        <p:nvSpPr>
          <p:cNvPr id="21" name="Shape 21"/>
          <p:cNvSpPr/>
          <p:nvPr/>
        </p:nvSpPr>
        <p:spPr>
          <a:xfrm>
            <a:off x="3566160" y="324612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2"/>
          <p:cNvSpPr/>
          <p:nvPr/>
        </p:nvSpPr>
        <p:spPr>
          <a:xfrm>
            <a:off x="3749040" y="3410712"/>
            <a:ext cx="329184" cy="329184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3"/>
          <p:cNvSpPr txBox="1"/>
          <p:nvPr/>
        </p:nvSpPr>
        <p:spPr>
          <a:xfrm>
            <a:off x="3749040" y="3410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4"/>
          <p:cNvSpPr txBox="1"/>
          <p:nvPr/>
        </p:nvSpPr>
        <p:spPr>
          <a:xfrm>
            <a:off x="4206240" y="3429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Markers</a:t>
            </a:r>
            <a:endParaRPr lang="en-US" sz="1500" dirty="0"/>
          </a:p>
        </p:txBody>
      </p:sp>
      <p:sp>
        <p:nvSpPr>
          <p:cNvPr id="25" name="Text 25"/>
          <p:cNvSpPr txBox="1"/>
          <p:nvPr/>
        </p:nvSpPr>
        <p:spPr>
          <a:xfrm>
            <a:off x="3749040" y="3867912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and select test groups, e.g. @pytest.mark.parametrize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548640" y="4754880"/>
            <a:ext cx="58521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7"/>
          <p:cNvSpPr/>
          <p:nvPr/>
        </p:nvSpPr>
        <p:spPr>
          <a:xfrm>
            <a:off x="731520" y="493776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8" name="Text 28"/>
          <p:cNvSpPr txBox="1"/>
          <p:nvPr/>
        </p:nvSpPr>
        <p:spPr>
          <a:xfrm>
            <a:off x="731520" y="493776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200" dirty="0"/>
          </a:p>
        </p:txBody>
      </p:sp>
      <p:sp>
        <p:nvSpPr>
          <p:cNvPr id="29" name="Text 29"/>
          <p:cNvSpPr txBox="1"/>
          <p:nvPr/>
        </p:nvSpPr>
        <p:spPr>
          <a:xfrm>
            <a:off x="1874520" y="49377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+ purchasing: username, balance, stock, total</a:t>
            </a:r>
            <a:endParaRPr lang="en-US" sz="1300" dirty="0"/>
          </a:p>
        </p:txBody>
      </p:sp>
      <p:sp>
        <p:nvSpPr>
          <p:cNvPr id="30" name="Shape 30"/>
          <p:cNvSpPr/>
          <p:nvPr/>
        </p:nvSpPr>
        <p:spPr>
          <a:xfrm>
            <a:off x="731520" y="5440680"/>
            <a:ext cx="100584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1" name="Text 31"/>
          <p:cNvSpPr txBox="1"/>
          <p:nvPr/>
        </p:nvSpPr>
        <p:spPr>
          <a:xfrm>
            <a:off x="731520" y="544068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32" name="Text 32"/>
          <p:cNvSpPr txBox="1"/>
          <p:nvPr/>
        </p:nvSpPr>
        <p:spPr>
          <a:xfrm>
            <a:off x="1874520" y="544068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Allure report generated from Pytest results</a:t>
            </a:r>
            <a:endParaRPr lang="en-US" sz="1300" dirty="0"/>
          </a:p>
        </p:txBody>
      </p:sp>
      <p:sp>
        <p:nvSpPr>
          <p:cNvPr id="33" name="Shape 33"/>
          <p:cNvSpPr/>
          <p:nvPr/>
        </p:nvSpPr>
        <p:spPr>
          <a:xfrm>
            <a:off x="6675120" y="1828800"/>
            <a:ext cx="496519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34" name="Text 34"/>
          <p:cNvSpPr txBox="1"/>
          <p:nvPr/>
        </p:nvSpPr>
        <p:spPr>
          <a:xfrm>
            <a:off x="6949440" y="2057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Allure Report Metadata</a:t>
            </a:r>
            <a:endParaRPr lang="en-US" sz="1800" dirty="0"/>
          </a:p>
        </p:txBody>
      </p:sp>
      <p:sp>
        <p:nvSpPr>
          <p:cNvPr id="35" name="Shape 35"/>
          <p:cNvSpPr/>
          <p:nvPr/>
        </p:nvSpPr>
        <p:spPr>
          <a:xfrm>
            <a:off x="6949440" y="2560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6" name="Text 36"/>
          <p:cNvSpPr txBox="1"/>
          <p:nvPr/>
        </p:nvSpPr>
        <p:spPr>
          <a:xfrm>
            <a:off x="6949440" y="2560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200" dirty="0"/>
          </a:p>
        </p:txBody>
      </p:sp>
      <p:sp>
        <p:nvSpPr>
          <p:cNvPr id="37" name="Text 37"/>
          <p:cNvSpPr txBox="1"/>
          <p:nvPr/>
        </p:nvSpPr>
        <p:spPr>
          <a:xfrm>
            <a:off x="8504000" y="2514600"/>
            <a:ext cx="29718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area, e.g. Shopping</a:t>
            </a:r>
            <a:endParaRPr lang="en-US" sz="1200" dirty="0"/>
          </a:p>
        </p:txBody>
      </p:sp>
      <p:sp>
        <p:nvSpPr>
          <p:cNvPr id="38" name="Shape 38"/>
          <p:cNvSpPr/>
          <p:nvPr/>
        </p:nvSpPr>
        <p:spPr>
          <a:xfrm>
            <a:off x="6949440" y="32004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9" name="Text 39"/>
          <p:cNvSpPr txBox="1"/>
          <p:nvPr/>
        </p:nvSpPr>
        <p:spPr>
          <a:xfrm>
            <a:off x="6949440" y="32004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200" dirty="0"/>
          </a:p>
        </p:txBody>
      </p:sp>
      <p:sp>
        <p:nvSpPr>
          <p:cNvPr id="40" name="Text 40"/>
          <p:cNvSpPr txBox="1"/>
          <p:nvPr/>
        </p:nvSpPr>
        <p:spPr>
          <a:xfrm>
            <a:off x="8504000" y="3154680"/>
            <a:ext cx="29718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part, e.g. Total Calculation</a:t>
            </a:r>
            <a:endParaRPr lang="en-US" sz="1200" dirty="0"/>
          </a:p>
        </p:txBody>
      </p:sp>
      <p:sp>
        <p:nvSpPr>
          <p:cNvPr id="41" name="Shape 41"/>
          <p:cNvSpPr/>
          <p:nvPr/>
        </p:nvSpPr>
        <p:spPr>
          <a:xfrm>
            <a:off x="6949440" y="38404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2" name="Text 42"/>
          <p:cNvSpPr txBox="1"/>
          <p:nvPr/>
        </p:nvSpPr>
        <p:spPr>
          <a:xfrm>
            <a:off x="6949440" y="38404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200" dirty="0"/>
          </a:p>
        </p:txBody>
      </p:sp>
      <p:sp>
        <p:nvSpPr>
          <p:cNvPr id="43" name="Text 43"/>
          <p:cNvSpPr txBox="1"/>
          <p:nvPr/>
        </p:nvSpPr>
        <p:spPr>
          <a:xfrm>
            <a:off x="8504000" y="3794760"/>
            <a:ext cx="29718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test name instead of the function name</a:t>
            </a:r>
            <a:endParaRPr lang="en-US" sz="1200" dirty="0"/>
          </a:p>
        </p:txBody>
      </p:sp>
      <p:sp>
        <p:nvSpPr>
          <p:cNvPr id="44" name="Shape 44"/>
          <p:cNvSpPr/>
          <p:nvPr/>
        </p:nvSpPr>
        <p:spPr>
          <a:xfrm>
            <a:off x="6949440" y="44805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45" name="Text 45"/>
          <p:cNvSpPr txBox="1"/>
          <p:nvPr/>
        </p:nvSpPr>
        <p:spPr>
          <a:xfrm>
            <a:off x="6949440" y="44805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200" dirty="0"/>
          </a:p>
        </p:txBody>
      </p:sp>
      <p:sp>
        <p:nvSpPr>
          <p:cNvPr id="46" name="Text 46"/>
          <p:cNvSpPr txBox="1"/>
          <p:nvPr/>
        </p:nvSpPr>
        <p:spPr>
          <a:xfrm>
            <a:off x="8504000" y="4434840"/>
            <a:ext cx="29718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→ BLOCKER; total calculation = CRITICAL</a:t>
            </a:r>
            <a:endParaRPr lang="en-US" sz="1200" dirty="0"/>
          </a:p>
        </p:txBody>
      </p:sp>
      <p:sp>
        <p:nvSpPr>
          <p:cNvPr id="47" name="Shape 47"/>
          <p:cNvSpPr/>
          <p:nvPr/>
        </p:nvSpPr>
        <p:spPr>
          <a:xfrm>
            <a:off x="6949440" y="51206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8" name="Text 48"/>
          <p:cNvSpPr txBox="1"/>
          <p:nvPr/>
        </p:nvSpPr>
        <p:spPr>
          <a:xfrm>
            <a:off x="6949440" y="51206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200" dirty="0"/>
          </a:p>
        </p:txBody>
      </p:sp>
      <p:sp>
        <p:nvSpPr>
          <p:cNvPr id="49" name="Text 49"/>
          <p:cNvSpPr txBox="1"/>
          <p:nvPr/>
        </p:nvSpPr>
        <p:spPr>
          <a:xfrm>
            <a:off x="8504000" y="5074920"/>
            <a:ext cx="29718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 actions inside a test</a:t>
            </a:r>
            <a:endParaRPr lang="en-US" sz="1200" dirty="0"/>
          </a:p>
        </p:txBody>
      </p:sp>
      <p:sp>
        <p:nvSpPr>
          <p:cNvPr id="50" name="Text 50"/>
          <p:cNvSpPr txBox="1"/>
          <p:nvPr/>
        </p:nvSpPr>
        <p:spPr>
          <a:xfrm>
            <a:off x="6949440" y="5760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and Trends studied; trends need multiple runs.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4  ·  OCT 4, 2026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Metrics, KPIs &amp; Logging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testing progress, and keeping a trail for root-cause analysis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5760720" cy="4389120"/>
          </a:xfrm>
          <a:prstGeom prst="roundRect">
            <a:avLst>
              <a:gd name="adj" fmla="val 2083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7"/>
          <p:cNvSpPr txBox="1"/>
          <p:nvPr/>
        </p:nvSpPr>
        <p:spPr>
          <a:xfrm>
            <a:off x="77724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Test Metrics</a:t>
            </a:r>
            <a:endParaRPr lang="en-US" sz="1600" dirty="0"/>
          </a:p>
        </p:txBody>
      </p:sp>
      <p:sp>
        <p:nvSpPr>
          <p:cNvPr id="8" name="Shape 8"/>
          <p:cNvSpPr/>
          <p:nvPr/>
        </p:nvSpPr>
        <p:spPr>
          <a:xfrm>
            <a:off x="777240" y="256032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777240" y="256032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RATE</a:t>
            </a:r>
            <a:endParaRPr lang="en-US" sz="1200" dirty="0"/>
          </a:p>
        </p:txBody>
      </p:sp>
      <p:sp>
        <p:nvSpPr>
          <p:cNvPr id="10" name="Text 10"/>
          <p:cNvSpPr txBox="1"/>
          <p:nvPr/>
        </p:nvSpPr>
        <p:spPr>
          <a:xfrm>
            <a:off x="2606040" y="256032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 ÷ executed × 100, e.g. 92 ÷ 100 = 92%</a:t>
            </a:r>
            <a:endParaRPr lang="en-US" sz="1200" dirty="0"/>
          </a:p>
        </p:txBody>
      </p:sp>
      <p:sp>
        <p:nvSpPr>
          <p:cNvPr id="11" name="Shape 11"/>
          <p:cNvSpPr/>
          <p:nvPr/>
        </p:nvSpPr>
        <p:spPr>
          <a:xfrm>
            <a:off x="777240" y="3081528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777240" y="30815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 DENSITY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2606040" y="308152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defects ÷ 10 KLOC = 2 per KLOC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777240" y="3602736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5"/>
          <p:cNvSpPr txBox="1"/>
          <p:nvPr/>
        </p:nvSpPr>
        <p:spPr>
          <a:xfrm>
            <a:off x="777240" y="36027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2606040" y="36027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of 100 requirements tested = 85%</a:t>
            </a:r>
            <a:endParaRPr lang="en-US" sz="1200" dirty="0"/>
          </a:p>
        </p:txBody>
      </p:sp>
      <p:sp>
        <p:nvSpPr>
          <p:cNvPr id="17" name="Shape 17"/>
          <p:cNvSpPr/>
          <p:nvPr/>
        </p:nvSpPr>
        <p:spPr>
          <a:xfrm>
            <a:off x="777240" y="4123944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777240" y="412394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2606040" y="4123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found before release: 95 of 100 = 95%</a:t>
            </a:r>
            <a:endParaRPr lang="en-US" sz="1200" dirty="0"/>
          </a:p>
        </p:txBody>
      </p:sp>
      <p:sp>
        <p:nvSpPr>
          <p:cNvPr id="20" name="Shape 20"/>
          <p:cNvSpPr/>
          <p:nvPr/>
        </p:nvSpPr>
        <p:spPr>
          <a:xfrm>
            <a:off x="777240" y="4645152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1" name="Text 21"/>
          <p:cNvSpPr txBox="1"/>
          <p:nvPr/>
        </p:nvSpPr>
        <p:spPr>
          <a:xfrm>
            <a:off x="777240" y="4645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</a:t>
            </a:r>
            <a:endParaRPr lang="en-US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2606040" y="464515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production defects ÷ 100 total = 5%</a:t>
            </a:r>
            <a:endParaRPr lang="en-US" sz="1200" dirty="0"/>
          </a:p>
        </p:txBody>
      </p:sp>
      <p:sp>
        <p:nvSpPr>
          <p:cNvPr id="23" name="Shape 23"/>
          <p:cNvSpPr/>
          <p:nvPr/>
        </p:nvSpPr>
        <p:spPr>
          <a:xfrm>
            <a:off x="777240" y="5166360"/>
            <a:ext cx="164592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24" name="Text 24"/>
          <p:cNvSpPr txBox="1"/>
          <p:nvPr/>
        </p:nvSpPr>
        <p:spPr>
          <a:xfrm>
            <a:off x="777240" y="516636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 RATE</a:t>
            </a:r>
            <a:endParaRPr lang="en-US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2606040" y="516636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flaky ÷ 200 tests = 2%</a:t>
            </a:r>
            <a:endParaRPr lang="en-US" sz="1200" dirty="0"/>
          </a:p>
        </p:txBody>
      </p:sp>
      <p:sp>
        <p:nvSpPr>
          <p:cNvPr id="26" name="Shape 26"/>
          <p:cNvSpPr/>
          <p:nvPr/>
        </p:nvSpPr>
        <p:spPr>
          <a:xfrm>
            <a:off x="6583680" y="1828800"/>
            <a:ext cx="5056632" cy="4389120"/>
          </a:xfrm>
          <a:prstGeom prst="roundRect">
            <a:avLst>
              <a:gd name="adj" fmla="val 2083"/>
            </a:avLst>
          </a:prstGeom>
          <a:solidFill>
            <a:srgbClr val="0B3A3F"/>
          </a:solidFill>
          <a:ln/>
        </p:spPr>
      </p:sp>
      <p:sp>
        <p:nvSpPr>
          <p:cNvPr id="27" name="Text 27"/>
          <p:cNvSpPr txBox="1"/>
          <p:nvPr/>
        </p:nvSpPr>
        <p:spPr>
          <a:xfrm>
            <a:off x="6858000" y="2011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Logging Levels</a:t>
            </a:r>
            <a:endParaRPr lang="en-US" sz="1600" dirty="0"/>
          </a:p>
        </p:txBody>
      </p:sp>
      <p:sp>
        <p:nvSpPr>
          <p:cNvPr id="28" name="Shape 28"/>
          <p:cNvSpPr/>
          <p:nvPr/>
        </p:nvSpPr>
        <p:spPr>
          <a:xfrm>
            <a:off x="6858000" y="246888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9" name="Text 29"/>
          <p:cNvSpPr txBox="1"/>
          <p:nvPr/>
        </p:nvSpPr>
        <p:spPr>
          <a:xfrm>
            <a:off x="6858000" y="246888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200" dirty="0"/>
          </a:p>
        </p:txBody>
      </p:sp>
      <p:sp>
        <p:nvSpPr>
          <p:cNvPr id="30" name="Text 30"/>
          <p:cNvSpPr txBox="1"/>
          <p:nvPr/>
        </p:nvSpPr>
        <p:spPr>
          <a:xfrm>
            <a:off x="8412480" y="243230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info: locators, variables</a:t>
            </a:r>
            <a:endParaRPr lang="en-US" sz="1200" dirty="0"/>
          </a:p>
        </p:txBody>
      </p:sp>
      <p:sp>
        <p:nvSpPr>
          <p:cNvPr id="31" name="Shape 31"/>
          <p:cNvSpPr/>
          <p:nvPr/>
        </p:nvSpPr>
        <p:spPr>
          <a:xfrm>
            <a:off x="6858000" y="306324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2" name="Text 32"/>
          <p:cNvSpPr txBox="1"/>
          <p:nvPr/>
        </p:nvSpPr>
        <p:spPr>
          <a:xfrm>
            <a:off x="6858000" y="306324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</a:t>
            </a:r>
            <a:endParaRPr lang="en-US" sz="1200" dirty="0"/>
          </a:p>
        </p:txBody>
      </p:sp>
      <p:sp>
        <p:nvSpPr>
          <p:cNvPr id="33" name="Text 33"/>
          <p:cNvSpPr txBox="1"/>
          <p:nvPr/>
        </p:nvSpPr>
        <p:spPr>
          <a:xfrm>
            <a:off x="8412480" y="302666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flow: test started</a:t>
            </a:r>
            <a:endParaRPr lang="en-US" sz="1200" dirty="0"/>
          </a:p>
        </p:txBody>
      </p:sp>
      <p:sp>
        <p:nvSpPr>
          <p:cNvPr id="34" name="Shape 34"/>
          <p:cNvSpPr/>
          <p:nvPr/>
        </p:nvSpPr>
        <p:spPr>
          <a:xfrm>
            <a:off x="6858000" y="365760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35" name="Text 35"/>
          <p:cNvSpPr txBox="1"/>
          <p:nvPr/>
        </p:nvSpPr>
        <p:spPr>
          <a:xfrm>
            <a:off x="6858000" y="365760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200" dirty="0"/>
          </a:p>
        </p:txBody>
      </p:sp>
      <p:sp>
        <p:nvSpPr>
          <p:cNvPr id="36" name="Text 36"/>
          <p:cNvSpPr txBox="1"/>
          <p:nvPr/>
        </p:nvSpPr>
        <p:spPr>
          <a:xfrm>
            <a:off x="8412480" y="362102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Unexpected but not stopping: slow response</a:t>
            </a:r>
            <a:endParaRPr lang="en-US" sz="1200" dirty="0"/>
          </a:p>
        </p:txBody>
      </p:sp>
      <p:sp>
        <p:nvSpPr>
          <p:cNvPr id="37" name="Shape 37"/>
          <p:cNvSpPr/>
          <p:nvPr/>
        </p:nvSpPr>
        <p:spPr>
          <a:xfrm>
            <a:off x="6858000" y="425196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38" name="Text 38"/>
          <p:cNvSpPr txBox="1"/>
          <p:nvPr/>
        </p:nvSpPr>
        <p:spPr>
          <a:xfrm>
            <a:off x="6858000" y="425196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  <a:endParaRPr lang="en-US" sz="1200" dirty="0"/>
          </a:p>
        </p:txBody>
      </p:sp>
      <p:sp>
        <p:nvSpPr>
          <p:cNvPr id="39" name="Text 39"/>
          <p:cNvSpPr txBox="1"/>
          <p:nvPr/>
        </p:nvSpPr>
        <p:spPr>
          <a:xfrm>
            <a:off x="8412480" y="421538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 failed: element not found</a:t>
            </a:r>
            <a:endParaRPr lang="en-US" sz="1200" dirty="0"/>
          </a:p>
        </p:txBody>
      </p:sp>
      <p:sp>
        <p:nvSpPr>
          <p:cNvPr id="40" name="Shape 40"/>
          <p:cNvSpPr/>
          <p:nvPr/>
        </p:nvSpPr>
        <p:spPr>
          <a:xfrm>
            <a:off x="6858000" y="4846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41" name="Text 41"/>
          <p:cNvSpPr txBox="1"/>
          <p:nvPr/>
        </p:nvSpPr>
        <p:spPr>
          <a:xfrm>
            <a:off x="6858000" y="4846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42" name="Text 42"/>
          <p:cNvSpPr txBox="1"/>
          <p:nvPr/>
        </p:nvSpPr>
        <p:spPr>
          <a:xfrm>
            <a:off x="8412480" y="4809744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Serious failure: framework unavailable</a:t>
            </a:r>
            <a:endParaRPr lang="en-US" sz="1200" dirty="0"/>
          </a:p>
        </p:txBody>
      </p:sp>
      <p:sp>
        <p:nvSpPr>
          <p:cNvPr id="43" name="Shape 43"/>
          <p:cNvSpPr/>
          <p:nvPr/>
        </p:nvSpPr>
        <p:spPr>
          <a:xfrm>
            <a:off x="6858000" y="5349240"/>
            <a:ext cx="4526280" cy="594360"/>
          </a:xfrm>
          <a:prstGeom prst="roundRect">
            <a:avLst>
              <a:gd name="adj" fmla="val 12308"/>
            </a:avLst>
          </a:prstGeom>
          <a:solidFill>
            <a:srgbClr val="0F4A50"/>
          </a:solidFill>
          <a:ln/>
        </p:spPr>
      </p:sp>
      <p:sp>
        <p:nvSpPr>
          <p:cNvPr id="44" name="Text 44"/>
          <p:cNvSpPr txBox="1"/>
          <p:nvPr/>
        </p:nvSpPr>
        <p:spPr>
          <a:xfrm>
            <a:off x="6995160" y="5376672"/>
            <a:ext cx="429768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logging.info("Starting test execution")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logging.error("Login test failed")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 ·  DAY 5  ·  OCT 5, 2026</a:t>
            </a:r>
            <a:endParaRPr lang="en-US" sz="1100" dirty="0"/>
          </a:p>
        </p:txBody>
      </p:sp>
      <p:sp>
        <p:nvSpPr>
          <p:cNvPr id="3" name="Text 3"/>
          <p:cNvSpPr txBox="1"/>
          <p:nvPr/>
        </p:nvSpPr>
        <p:spPr>
          <a:xfrm>
            <a:off x="548640" y="68580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Playwright + Pytest + Allure</a:t>
            </a:r>
            <a:endParaRPr lang="en-US" sz="3400" dirty="0"/>
          </a:p>
        </p:txBody>
      </p:sp>
      <p:sp>
        <p:nvSpPr>
          <p:cNvPr id="4" name="Text 4"/>
          <p:cNvSpPr txBox="1"/>
          <p:nvPr/>
        </p:nvSpPr>
        <p:spPr>
          <a:xfrm>
            <a:off x="548640" y="1280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the DemoQA Registration and Login modules, then revising Week 5</a:t>
            </a:r>
            <a:endParaRPr lang="en-US" sz="1400" dirty="0"/>
          </a:p>
        </p:txBody>
      </p:sp>
      <p:sp>
        <p:nvSpPr>
          <p:cNvPr id="5" name="Text 5"/>
          <p:cNvSpPr txBox="1"/>
          <p:nvPr/>
        </p:nvSpPr>
        <p:spPr>
          <a:xfrm>
            <a:off x="1069848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  <p:sp>
        <p:nvSpPr>
          <p:cNvPr id="6" name="Shape 6"/>
          <p:cNvSpPr/>
          <p:nvPr/>
        </p:nvSpPr>
        <p:spPr>
          <a:xfrm>
            <a:off x="548640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7"/>
          <p:cNvSpPr/>
          <p:nvPr/>
        </p:nvSpPr>
        <p:spPr>
          <a:xfrm>
            <a:off x="777240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777240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777240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new user: Critical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username: Critical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password: Normal</a:t>
            </a:r>
            <a:endParaRPr lang="en-US" sz="1400" dirty="0"/>
          </a:p>
        </p:txBody>
      </p:sp>
      <p:sp>
        <p:nvSpPr>
          <p:cNvPr id="10" name="Shape 10"/>
          <p:cNvSpPr/>
          <p:nvPr/>
        </p:nvSpPr>
        <p:spPr>
          <a:xfrm>
            <a:off x="4315968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11"/>
          <p:cNvSpPr/>
          <p:nvPr/>
        </p:nvSpPr>
        <p:spPr>
          <a:xfrm>
            <a:off x="4544568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00A896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4544568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200" dirty="0"/>
          </a:p>
        </p:txBody>
      </p:sp>
      <p:sp>
        <p:nvSpPr>
          <p:cNvPr id="13" name="Text 13"/>
          <p:cNvSpPr txBox="1"/>
          <p:nvPr/>
        </p:nvSpPr>
        <p:spPr>
          <a:xfrm>
            <a:off x="4544568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credentials: Critical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username: Critical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user, wrong password: Critical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fields: Normal</a:t>
            </a:r>
            <a:endParaRPr lang="en-US" sz="1400" dirty="0"/>
          </a:p>
        </p:txBody>
      </p:sp>
      <p:sp>
        <p:nvSpPr>
          <p:cNvPr id="14" name="Shape 14"/>
          <p:cNvSpPr/>
          <p:nvPr/>
        </p:nvSpPr>
        <p:spPr>
          <a:xfrm>
            <a:off x="8083296" y="182880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E4F3F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5"/>
          <p:cNvSpPr/>
          <p:nvPr/>
        </p:nvSpPr>
        <p:spPr>
          <a:xfrm>
            <a:off x="8311896" y="2057400"/>
            <a:ext cx="1737360" cy="329184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6" name="Text 16"/>
          <p:cNvSpPr txBox="1"/>
          <p:nvPr/>
        </p:nvSpPr>
        <p:spPr>
          <a:xfrm>
            <a:off x="8311896" y="205740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Revision</a:t>
            </a:r>
            <a:endParaRPr lang="en-US" sz="1200" dirty="0"/>
          </a:p>
        </p:txBody>
      </p:sp>
      <p:sp>
        <p:nvSpPr>
          <p:cNvPr id="17" name="Text 17"/>
          <p:cNvSpPr txBox="1"/>
          <p:nvPr/>
        </p:nvSpPr>
        <p:spPr>
          <a:xfrm>
            <a:off x="8311896" y="26060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Locators: role, placeholder, CSS, ID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expect() assertions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freeze &gt; requirements.txt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Revised OOP, Git, Allure, KPIs, logging</a:t>
            </a:r>
            <a:endParaRPr lang="en-US" sz="1400" dirty="0"/>
          </a:p>
        </p:txBody>
      </p:sp>
      <p:sp>
        <p:nvSpPr>
          <p:cNvPr id="18" name="Shape 18"/>
          <p:cNvSpPr/>
          <p:nvPr/>
        </p:nvSpPr>
        <p:spPr>
          <a:xfrm>
            <a:off x="548640" y="525780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0B3A3F"/>
          </a:solidFill>
          <a:ln/>
        </p:spPr>
      </p:sp>
      <p:sp>
        <p:nvSpPr>
          <p:cNvPr id="19" name="Text 19"/>
          <p:cNvSpPr txBox="1"/>
          <p:nvPr/>
        </p:nvSpPr>
        <p:spPr>
          <a:xfrm>
            <a:off x="868680" y="5440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Positive  +  Negative  Scenarios</a:t>
            </a:r>
            <a:endParaRPr lang="en-US" sz="2000" dirty="0"/>
          </a:p>
        </p:txBody>
      </p:sp>
      <p:sp>
        <p:nvSpPr>
          <p:cNvPr id="20" name="Text 20"/>
          <p:cNvSpPr txBox="1"/>
          <p:nvPr/>
        </p:nvSpPr>
        <p:spPr>
          <a:xfrm>
            <a:off x="722376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21" name="Text 21"/>
          <p:cNvSpPr txBox="1"/>
          <p:nvPr/>
        </p:nvSpPr>
        <p:spPr>
          <a:xfrm>
            <a:off x="722376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written</a:t>
            </a:r>
            <a:endParaRPr lang="en-US" sz="1100" dirty="0"/>
          </a:p>
        </p:txBody>
      </p:sp>
      <p:sp>
        <p:nvSpPr>
          <p:cNvPr id="22" name="Text 22"/>
          <p:cNvSpPr txBox="1"/>
          <p:nvPr/>
        </p:nvSpPr>
        <p:spPr>
          <a:xfrm>
            <a:off x="868680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23" name="Text 23"/>
          <p:cNvSpPr txBox="1"/>
          <p:nvPr/>
        </p:nvSpPr>
        <p:spPr>
          <a:xfrm>
            <a:off x="868680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</a:t>
            </a:r>
            <a:endParaRPr lang="en-US" sz="1100" dirty="0"/>
          </a:p>
        </p:txBody>
      </p:sp>
      <p:sp>
        <p:nvSpPr>
          <p:cNvPr id="24" name="Text 24"/>
          <p:cNvSpPr txBox="1"/>
          <p:nvPr/>
        </p:nvSpPr>
        <p:spPr>
          <a:xfrm>
            <a:off x="10149840" y="53492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5" name="Text 25"/>
          <p:cNvSpPr txBox="1"/>
          <p:nvPr/>
        </p:nvSpPr>
        <p:spPr>
          <a:xfrm>
            <a:off x="10149840" y="58521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Internship Week 4 Summary</dc:title>
  <dc:subject>PptxGenJS Presentation</dc:subject>
  <dc:creator>Shekhar Singh Rawal</dc:creator>
  <cp:lastModifiedBy>Shekhar Singh Rawal</cp:lastModifiedBy>
  <cp:revision>1</cp:revision>
  <dcterms:created xsi:type="dcterms:W3CDTF">2026-10-04T03:37:54Z</dcterms:created>
  <dcterms:modified xsi:type="dcterms:W3CDTF">2026-10-04T03:37:54Z</dcterms:modified>
</cp:coreProperties>
</file>